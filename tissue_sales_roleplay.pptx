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aae71be5-5940-6455-831d-472b3d2f256d}">
          <p14:sldIdLst>
            <p14:sldId id="256"/>
            <p14:sldId id="257"/>
            <p14:sldId id="258"/>
          </p14:sldIdLst>
        </p14:section>
        <p14:section name="ヒアリング" id="{c4d7fd97-37c7-4f44-be99-1a4e55b0b584}">
          <p14:sldIdLst>
            <p14:sldId id="259"/>
          </p14:sldIdLst>
        </p14:section>
        <p14:section name="商品提案" id="{f6e767d9-39be-086c-8d1c-2a5d920c7206}">
          <p14:sldIdLst>
            <p14:sldId id="260"/>
            <p14:sldId id="261"/>
          </p14:sldIdLst>
        </p14:section>
        <p14:section name="使い分け" id="{4c6cf0f0-862e-2985-e244-8650089f23c6}">
          <p14:sldIdLst>
            <p14:sldId id="262"/>
          </p14:sldIdLst>
        </p14:section>
        <p14:section name="クロージング" id="{3bf8590e-7836-4336-0fd1-9b581bbb4da1}">
          <p14:sldIdLst>
            <p14:sldId id="263"/>
          </p14:sldIdLst>
        </p14:section>
        <p14:section name="振り返り" id="{7fa5d9b8-6b00-7a45-3cc8-257af8ff5b0d}">
          <p14:sldIdLst>
            <p14:sldId id="264"/>
          </p14:sldIdLst>
        </p14:section>
        <p14:section name="まとめ" id="{f1da1432-e26b-6061-846e-70e1be28d0e9}">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これより、ティッシュの提案営業のロールプレイを行います。用途に合わせてお選びいただける2種類のティッシュをご提案します。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価格を重視される一般家庭のお客様を想定し、価格重視タイプと高品質タイプの2種類のティッシュをご提案します。ゴールは、生活に合った使い分けに納得していただき、両タイプをお試しいただく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本日は、ヒアリング、2種類のティッシュのご紹介、使い分けのご提案、クロージングの順に、約5分でお話しします。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「本日は、用途に合わせてお選びいただける2種類のティッシュをご紹介します。
普段ティッシュを購入される際は、価格と使い心地のどちらを重視されていますか？」
お客様：「やっぱり価格かな」
「ありがとうございます。ティッシュは毎日使う消耗品なので、できるだけ費用を抑えたいですよね。
ちなみに、普段はお食事の際やお掃除など、どのような場面で使われることが多いですか？」
お客様：「食事のときとか、鼻をかむときかな」
「ありがとうございます。それでしたら、普段使いと鼻をかむときで、使い分けていただく方法もおすすめです。」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「まず、こちらは価格を重視した一般的なティッシュです。
一番の魅力は、毎日気兼ねなく使えることです。
例えば、お食事の際に口元を拭いたり、ちょっとした汚れを拭いたり、ご家庭ではさまざまな場面でティッシュを使いますよね。
そういった使用頻度の高い場面では、価格を抑えられる商品が適していると思います。
特に、ご家族が多いご家庭や、ティッシュの使用量が多い方にはおすすめです。」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「一方で、こちらは鼻セレブのような、肌触りを重視した高品質なティッシュです。
一般的なティッシュと比べて価格は高くなりますが、その分、やわらかさや肌への摩擦に配慮した使い心地が魅力です。
例えば、花粉症や風邪で何度も鼻をかむとき、鼻の周りがヒリヒリしてしまった経験はありませんか？」
お客様：「あるある！」
「そうですよね。そんなときには、こちらのようなやわらかいティッシュがおすすめです。
特に、鼻をかむ回数が増える時期には、毎回の使い心地の違いを感じていただきやすいと思います。」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「ここまで2種類をご紹介しましたが、どちらが良いというよりも、使う場面によって選んでいただくことが大切だと考えています。
例えば、食卓やリビングには価格重視のティッシュを置いて、寝室や花粉症の時期には高品質なティッシュを使う。
このように使い分けることで、日々の費用を抑えながら、必要な場面では快適さも大切にできます。
先ほど価格を重視されるとおっしゃっていましたが、このような使い分けはいかがでしょうか？」
お客様：「それなら良さそう！」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「ありがとうございます。
私からは、普段使いには価格重視のティッシュを、鼻をかむ機会が多いときには高品質なティッシュをおすすめします。
毎日使うものだからこそ、価格だけでも品質だけでもなく、お客様の生活に合った商品を選んでいただきたいと考えています。
本日のお話を踏まえて、まずは普段使い用と高品質タイプを一つずつお試しいただくのはいかがでしょうか？」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ロールプレイでは、4つのことを意識しました。1つ目は、まずお客様のご希望と使う場面を伺うこと。2つ目は、お客様の気持ちに共感すること。3つ目は、どちらかを押し付けず、場面ごとの使い分けをご提案すること。4つ目は、1つずつのお試しで、購入のハードルを下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「私は営業において、商品の良さを一方的にお伝えするのではなく、お客様が何を大切にされているのかを伺い、その方に合った価値をご提案することを心がけています。」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営業ロールプレイ</a:t>
            </a: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用途に合わせて選ぶ　2種類のティッシュのご提案</a:t>
            </a:r>
            <a:endParaRPr lang="en-US" sz="1800" dirty="0"/>
          </a:p>
        </p:txBody>
      </p:sp>
      <p:sp>
        <p:nvSpPr>
          <p:cNvPr id="4" name="Text 2"/>
          <p:cNvSpPr txBox="1"/>
          <p:nvPr/>
        </p:nvSpPr>
        <p:spPr>
          <a:xfrm>
            <a:off x="640080" y="4206240"/>
            <a:ext cx="5486400" cy="320040"/>
          </a:xfrm>
          <a:prstGeom prst="rect">
            <a:avLst/>
          </a:prstGeom>
          <a:noFill/>
          <a:ln/>
        </p:spPr>
        <p:txBody>
          <a:bodyPr wrap="square" lIns="0" tIns="0" rIns="0" bIns="0" rtlCol="0" anchor="t"/>
          <a:lstStyle/>
          <a:p>
            <a:pPr indent="0" marL="0">
              <a:buNone/>
            </a:pPr>
            <a:r>
              <a:rPr lang="en-US" sz="1200" dirty="0">
                <a:solidFill>
                  <a:schemeClr val="accent5"/>
                </a:solidFill>
              </a:rPr>
              <a:t>テーマ：日用品（ティッシュ）の提案営業｜約5分</a:t>
            </a:r>
            <a:endParaRPr lang="en-US" sz="1200" dirty="0"/>
          </a:p>
        </p:txBody>
      </p:sp>
      <p:sp>
        <p:nvSpPr>
          <p:cNvPr id="5" name="Feather circle"/>
          <p:cNvSpPr/>
          <p:nvPr/>
        </p:nvSpPr>
        <p:spPr>
          <a:xfrm>
            <a:off x="7589520" y="548640"/>
            <a:ext cx="914400" cy="914400"/>
          </a:xfrm>
          <a:prstGeom prst="ellipse">
            <a:avLst/>
          </a:prstGeom>
          <a:solidFill>
            <a:schemeClr val="accent2"/>
          </a:solidFill>
          <a:ln/>
        </p:spPr>
      </p:sp>
      <p:pic>
        <p:nvPicPr>
          <p:cNvPr id="6" name="Feather icon" descr="Feather">    </p:cNvPr>
          <p:cNvPicPr>
            <a:picLocks noChangeAspect="1"/>
          </p:cNvPicPr>
          <p:nvPr/>
        </p:nvPicPr>
        <p:blipFill>
          <a:blip r:embed="rId1"/>
          <a:stretch>
            <a:fillRect/>
          </a:stretch>
        </p:blipFill>
        <p:spPr>
          <a:xfrm>
            <a:off x="7818120" y="777240"/>
            <a:ext cx="457200" cy="457200"/>
          </a:xfrm>
          <a:prstGeom prst="rect">
            <a:avLst/>
          </a:prstGeom>
        </p:spPr>
      </p:pic>
      <p:sp>
        <p:nvSpPr>
          <p:cNvPr id="7" name="Coins circle"/>
          <p:cNvSpPr/>
          <p:nvPr/>
        </p:nvSpPr>
        <p:spPr>
          <a:xfrm>
            <a:off x="6766560" y="868680"/>
            <a:ext cx="685800" cy="685800"/>
          </a:xfrm>
          <a:prstGeom prst="ellipse">
            <a:avLst/>
          </a:prstGeom>
          <a:solidFill>
            <a:schemeClr val="accent3"/>
          </a:solidFill>
          <a:ln/>
        </p:spPr>
      </p:sp>
      <p:pic>
        <p:nvPicPr>
          <p:cNvPr id="8" name="Coins icon" descr="Coins">    </p:cNvPr>
          <p:cNvPicPr>
            <a:picLocks noChangeAspect="1"/>
          </p:cNvPicPr>
          <p:nvPr/>
        </p:nvPicPr>
        <p:blipFill>
          <a:blip r:embed="rId2"/>
          <a:stretch>
            <a:fillRect/>
          </a:stretch>
        </p:blipFill>
        <p:spPr>
          <a:xfrm>
            <a:off x="6938010" y="10401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SETTING</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ロールプレイの設定</a:t>
            </a:r>
            <a:endParaRPr lang="en-US" sz="2600" dirty="0"/>
          </a:p>
        </p:txBody>
      </p:sp>
      <p:sp>
        <p:nvSpPr>
          <p:cNvPr id="4" name="Setting card"/>
          <p:cNvSpPr/>
          <p:nvPr/>
        </p:nvSpPr>
        <p:spPr>
          <a:xfrm>
            <a:off x="457200" y="1371600"/>
            <a:ext cx="2560320" cy="2560320"/>
          </a:xfrm>
          <a:prstGeom prst="roundRect">
            <a:avLst>
              <a:gd name="adj" fmla="val 4286"/>
            </a:avLst>
          </a:prstGeom>
          <a:solidFill>
            <a:schemeClr val="bg2"/>
          </a:solidFill>
          <a:ln/>
          <a:effectLst>
            <a:outerShdw sx="100000" sy="100000" kx="0" ky="0" algn="bl" rotWithShape="0" blurRad="76200" dist="25400" dir="5400000">
              <a:srgbClr val="000000">
                <a:alpha val="12000"/>
              </a:srgbClr>
            </a:outerShdw>
          </a:effectLst>
        </p:spPr>
      </p:sp>
      <p:sp>
        <p:nvSpPr>
          <p:cNvPr id="5" name="想定するお客様 circle"/>
          <p:cNvSpPr/>
          <p:nvPr/>
        </p:nvSpPr>
        <p:spPr>
          <a:xfrm>
            <a:off x="731520" y="1645920"/>
            <a:ext cx="731520" cy="731520"/>
          </a:xfrm>
          <a:prstGeom prst="ellipse">
            <a:avLst/>
          </a:prstGeom>
          <a:solidFill>
            <a:schemeClr val="tx2"/>
          </a:solidFill>
          <a:ln/>
        </p:spPr>
      </p:sp>
      <p:pic>
        <p:nvPicPr>
          <p:cNvPr id="6" name="想定するお客様 icon" descr="想定するお客様">    </p:cNvPr>
          <p:cNvPicPr>
            <a:picLocks noChangeAspect="1"/>
          </p:cNvPicPr>
          <p:nvPr/>
        </p:nvPicPr>
        <p:blipFill>
          <a:blip r:embed="rId1"/>
          <a:stretch>
            <a:fillRect/>
          </a:stretch>
        </p:blipFill>
        <p:spPr>
          <a:xfrm>
            <a:off x="914400" y="1828800"/>
            <a:ext cx="365760" cy="365760"/>
          </a:xfrm>
          <a:prstGeom prst="rect">
            <a:avLst/>
          </a:prstGeom>
        </p:spPr>
      </p:pic>
      <p:sp>
        <p:nvSpPr>
          <p:cNvPr id="7" name="Text 4"/>
          <p:cNvSpPr txBox="1"/>
          <p:nvPr/>
        </p:nvSpPr>
        <p:spPr>
          <a:xfrm>
            <a:off x="731520" y="2606040"/>
            <a:ext cx="2011680" cy="365760"/>
          </a:xfrm>
          <a:prstGeom prst="rect">
            <a:avLst/>
          </a:prstGeom>
          <a:noFill/>
          <a:ln/>
        </p:spPr>
        <p:txBody>
          <a:bodyPr wrap="square" lIns="0" tIns="0" rIns="0" bIns="0" rtlCol="0" anchor="t"/>
          <a:lstStyle/>
          <a:p>
            <a:pPr indent="0" marL="0">
              <a:buNone/>
            </a:pPr>
            <a:r>
              <a:rPr lang="en-US" sz="1600" b="1" dirty="0">
                <a:solidFill>
                  <a:schemeClr val="tx2"/>
                </a:solidFill>
              </a:rPr>
              <a:t>想定するお客様</a:t>
            </a:r>
            <a:endParaRPr lang="en-US" sz="1600" dirty="0"/>
          </a:p>
        </p:txBody>
      </p:sp>
      <p:sp>
        <p:nvSpPr>
          <p:cNvPr id="8" name="Text 5"/>
          <p:cNvSpPr txBox="1"/>
          <p:nvPr/>
        </p:nvSpPr>
        <p:spPr>
          <a:xfrm>
            <a:off x="731520" y="3063240"/>
            <a:ext cx="2011680" cy="1097280"/>
          </a:xfrm>
          <a:prstGeom prst="rect">
            <a:avLst/>
          </a:prstGeom>
          <a:noFill/>
          <a:ln/>
        </p:spPr>
        <p:txBody>
          <a:bodyPr wrap="square" lIns="0" tIns="0" rIns="0" bIns="0" rtlCol="0" anchor="t"/>
          <a:lstStyle/>
          <a:p>
            <a:pPr indent="0" marL="0">
              <a:buNone/>
            </a:pPr>
            <a:r>
              <a:rPr lang="en-US" sz="1200" dirty="0">
                <a:solidFill>
                  <a:schemeClr val="tx1"/>
                </a:solidFill>
              </a:rPr>
              <a:t>ティッシュを日常的に使う一般家庭のお客様。購入時は価格を重視している</a:t>
            </a:r>
            <a:endParaRPr lang="en-US" sz="1200" dirty="0"/>
          </a:p>
        </p:txBody>
      </p:sp>
      <p:sp>
        <p:nvSpPr>
          <p:cNvPr id="9" name="Setting card"/>
          <p:cNvSpPr/>
          <p:nvPr/>
        </p:nvSpPr>
        <p:spPr>
          <a:xfrm>
            <a:off x="3291840" y="1371600"/>
            <a:ext cx="2560320" cy="2560320"/>
          </a:xfrm>
          <a:prstGeom prst="roundRect">
            <a:avLst>
              <a:gd name="adj" fmla="val 4286"/>
            </a:avLst>
          </a:prstGeom>
          <a:solidFill>
            <a:schemeClr val="bg2"/>
          </a:solidFill>
          <a:ln/>
          <a:effectLst>
            <a:outerShdw sx="100000" sy="100000" kx="0" ky="0" algn="bl" rotWithShape="0" blurRad="76200" dist="25400" dir="5400000">
              <a:srgbClr val="000000">
                <a:alpha val="12000"/>
              </a:srgbClr>
            </a:outerShdw>
          </a:effectLst>
        </p:spPr>
      </p:sp>
      <p:sp>
        <p:nvSpPr>
          <p:cNvPr id="10" name="ご提案する商品 circle"/>
          <p:cNvSpPr/>
          <p:nvPr/>
        </p:nvSpPr>
        <p:spPr>
          <a:xfrm>
            <a:off x="3566160" y="1645920"/>
            <a:ext cx="731520" cy="731520"/>
          </a:xfrm>
          <a:prstGeom prst="ellipse">
            <a:avLst/>
          </a:prstGeom>
          <a:solidFill>
            <a:schemeClr val="accent3"/>
          </a:solidFill>
          <a:ln/>
        </p:spPr>
      </p:sp>
      <p:pic>
        <p:nvPicPr>
          <p:cNvPr id="11" name="ご提案する商品 icon" descr="ご提案する商品">    </p:cNvPr>
          <p:cNvPicPr>
            <a:picLocks noChangeAspect="1"/>
          </p:cNvPicPr>
          <p:nvPr/>
        </p:nvPicPr>
        <p:blipFill>
          <a:blip r:embed="rId2"/>
          <a:stretch>
            <a:fillRect/>
          </a:stretch>
        </p:blipFill>
        <p:spPr>
          <a:xfrm>
            <a:off x="3749040" y="1828800"/>
            <a:ext cx="365760" cy="365760"/>
          </a:xfrm>
          <a:prstGeom prst="rect">
            <a:avLst/>
          </a:prstGeom>
        </p:spPr>
      </p:pic>
      <p:sp>
        <p:nvSpPr>
          <p:cNvPr id="12" name="Text 8"/>
          <p:cNvSpPr txBox="1"/>
          <p:nvPr/>
        </p:nvSpPr>
        <p:spPr>
          <a:xfrm>
            <a:off x="3566160" y="2606040"/>
            <a:ext cx="2011680" cy="365760"/>
          </a:xfrm>
          <a:prstGeom prst="rect">
            <a:avLst/>
          </a:prstGeom>
          <a:noFill/>
          <a:ln/>
        </p:spPr>
        <p:txBody>
          <a:bodyPr wrap="square" lIns="0" tIns="0" rIns="0" bIns="0" rtlCol="0" anchor="t"/>
          <a:lstStyle/>
          <a:p>
            <a:pPr indent="0" marL="0">
              <a:buNone/>
            </a:pPr>
            <a:r>
              <a:rPr lang="en-US" sz="1600" b="1" dirty="0">
                <a:solidFill>
                  <a:schemeClr val="tx2"/>
                </a:solidFill>
              </a:rPr>
              <a:t>ご提案する商品</a:t>
            </a:r>
            <a:endParaRPr lang="en-US" sz="1600" dirty="0"/>
          </a:p>
        </p:txBody>
      </p:sp>
      <p:sp>
        <p:nvSpPr>
          <p:cNvPr id="13" name="Text 9"/>
          <p:cNvSpPr txBox="1"/>
          <p:nvPr/>
        </p:nvSpPr>
        <p:spPr>
          <a:xfrm>
            <a:off x="3566160" y="3063240"/>
            <a:ext cx="2011680" cy="1097280"/>
          </a:xfrm>
          <a:prstGeom prst="rect">
            <a:avLst/>
          </a:prstGeom>
          <a:noFill/>
          <a:ln/>
        </p:spPr>
        <p:txBody>
          <a:bodyPr wrap="square" lIns="0" tIns="0" rIns="0" bIns="0" rtlCol="0" anchor="t"/>
          <a:lstStyle/>
          <a:p>
            <a:pPr indent="0" marL="0">
              <a:buNone/>
            </a:pPr>
            <a:r>
              <a:rPr lang="en-US" sz="1200" dirty="0">
                <a:solidFill>
                  <a:schemeClr val="tx1"/>
                </a:solidFill>
              </a:rPr>
              <a:t>価格重視の一般的なティッシュと、肌触りを重視した高品質なティッシュの2種類</a:t>
            </a:r>
            <a:endParaRPr lang="en-US" sz="1200" dirty="0"/>
          </a:p>
        </p:txBody>
      </p:sp>
      <p:sp>
        <p:nvSpPr>
          <p:cNvPr id="14" name="Setting card"/>
          <p:cNvSpPr/>
          <p:nvPr/>
        </p:nvSpPr>
        <p:spPr>
          <a:xfrm>
            <a:off x="6126480" y="1371600"/>
            <a:ext cx="2560320" cy="2560320"/>
          </a:xfrm>
          <a:prstGeom prst="roundRect">
            <a:avLst>
              <a:gd name="adj" fmla="val 4286"/>
            </a:avLst>
          </a:prstGeom>
          <a:solidFill>
            <a:schemeClr val="bg2"/>
          </a:solidFill>
          <a:ln/>
          <a:effectLst>
            <a:outerShdw sx="100000" sy="100000" kx="0" ky="0" algn="bl" rotWithShape="0" blurRad="76200" dist="25400" dir="5400000">
              <a:srgbClr val="000000">
                <a:alpha val="12000"/>
              </a:srgbClr>
            </a:outerShdw>
          </a:effectLst>
        </p:spPr>
      </p:sp>
      <p:sp>
        <p:nvSpPr>
          <p:cNvPr id="15" name="目指すゴール circle"/>
          <p:cNvSpPr/>
          <p:nvPr/>
        </p:nvSpPr>
        <p:spPr>
          <a:xfrm>
            <a:off x="6400800" y="1645920"/>
            <a:ext cx="731520" cy="731520"/>
          </a:xfrm>
          <a:prstGeom prst="ellipse">
            <a:avLst/>
          </a:prstGeom>
          <a:solidFill>
            <a:schemeClr val="accent2"/>
          </a:solidFill>
          <a:ln/>
        </p:spPr>
      </p:sp>
      <p:pic>
        <p:nvPicPr>
          <p:cNvPr id="16" name="目指すゴール icon" descr="目指すゴール">    </p:cNvPr>
          <p:cNvPicPr>
            <a:picLocks noChangeAspect="1"/>
          </p:cNvPicPr>
          <p:nvPr/>
        </p:nvPicPr>
        <p:blipFill>
          <a:blip r:embed="rId3"/>
          <a:stretch>
            <a:fillRect/>
          </a:stretch>
        </p:blipFill>
        <p:spPr>
          <a:xfrm>
            <a:off x="6583680" y="1828800"/>
            <a:ext cx="365760" cy="365760"/>
          </a:xfrm>
          <a:prstGeom prst="rect">
            <a:avLst/>
          </a:prstGeom>
        </p:spPr>
      </p:pic>
      <p:sp>
        <p:nvSpPr>
          <p:cNvPr id="17" name="Text 12"/>
          <p:cNvSpPr txBox="1"/>
          <p:nvPr/>
        </p:nvSpPr>
        <p:spPr>
          <a:xfrm>
            <a:off x="6400800" y="2606040"/>
            <a:ext cx="2011680" cy="365760"/>
          </a:xfrm>
          <a:prstGeom prst="rect">
            <a:avLst/>
          </a:prstGeom>
          <a:noFill/>
          <a:ln/>
        </p:spPr>
        <p:txBody>
          <a:bodyPr wrap="square" lIns="0" tIns="0" rIns="0" bIns="0" rtlCol="0" anchor="t"/>
          <a:lstStyle/>
          <a:p>
            <a:pPr indent="0" marL="0">
              <a:buNone/>
            </a:pPr>
            <a:r>
              <a:rPr lang="en-US" sz="1600" b="1" dirty="0">
                <a:solidFill>
                  <a:schemeClr val="tx2"/>
                </a:solidFill>
              </a:rPr>
              <a:t>目指すゴール</a:t>
            </a:r>
            <a:endParaRPr lang="en-US" sz="1600" dirty="0"/>
          </a:p>
        </p:txBody>
      </p:sp>
      <p:sp>
        <p:nvSpPr>
          <p:cNvPr id="18" name="Text 13"/>
          <p:cNvSpPr txBox="1"/>
          <p:nvPr/>
        </p:nvSpPr>
        <p:spPr>
          <a:xfrm>
            <a:off x="6400800" y="3063240"/>
            <a:ext cx="2011680" cy="1097280"/>
          </a:xfrm>
          <a:prstGeom prst="rect">
            <a:avLst/>
          </a:prstGeom>
          <a:noFill/>
          <a:ln/>
        </p:spPr>
        <p:txBody>
          <a:bodyPr wrap="square" lIns="0" tIns="0" rIns="0" bIns="0" rtlCol="0" anchor="t"/>
          <a:lstStyle/>
          <a:p>
            <a:pPr indent="0" marL="0">
              <a:buNone/>
            </a:pPr>
            <a:r>
              <a:rPr lang="en-US" sz="1200" dirty="0">
                <a:solidFill>
                  <a:schemeClr val="tx1"/>
                </a:solidFill>
              </a:rPr>
              <a:t>生活に合った使い分けに納得していただき、両タイプをお試しいただく</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FLOW</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ロールプレイの流れ</a:t>
            </a:r>
            <a:endParaRPr lang="en-US" sz="2600" dirty="0"/>
          </a:p>
        </p:txBody>
      </p:sp>
      <p:sp>
        <p:nvSpPr>
          <p:cNvPr id="4" name="Timeline"/>
          <p:cNvSpPr/>
          <p:nvPr/>
        </p:nvSpPr>
        <p:spPr>
          <a:xfrm>
            <a:off x="1097280" y="2148840"/>
            <a:ext cx="6949440" cy="0"/>
          </a:xfrm>
          <a:prstGeom prst="line">
            <a:avLst/>
          </a:prstGeom>
          <a:noFill/>
          <a:ln w="25400">
            <a:solidFill>
              <a:schemeClr val="accent6"/>
            </a:solidFill>
            <a:prstDash val="solid"/>
          </a:ln>
        </p:spPr>
      </p:sp>
      <p:sp>
        <p:nvSpPr>
          <p:cNvPr id="5" name="Step 1"/>
          <p:cNvSpPr/>
          <p:nvPr/>
        </p:nvSpPr>
        <p:spPr>
          <a:xfrm>
            <a:off x="868680" y="1737360"/>
            <a:ext cx="822960" cy="822960"/>
          </a:xfrm>
          <a:prstGeom prst="ellipse">
            <a:avLst/>
          </a:prstGeom>
          <a:solidFill>
            <a:schemeClr val="tx2"/>
          </a:solidFill>
          <a:ln/>
        </p:spPr>
      </p:sp>
      <p:sp>
        <p:nvSpPr>
          <p:cNvPr id="6" name="Text 4"/>
          <p:cNvSpPr txBox="1"/>
          <p:nvPr/>
        </p:nvSpPr>
        <p:spPr>
          <a:xfrm>
            <a:off x="86868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7" name="Text 5"/>
          <p:cNvSpPr txBox="1"/>
          <p:nvPr/>
        </p:nvSpPr>
        <p:spPr>
          <a:xfrm>
            <a:off x="45720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導入・ヒアリング</a:t>
            </a:r>
            <a:endParaRPr lang="en-US" sz="1400" dirty="0"/>
          </a:p>
        </p:txBody>
      </p:sp>
      <p:sp>
        <p:nvSpPr>
          <p:cNvPr id="8" name="Text 6"/>
          <p:cNvSpPr txBox="1"/>
          <p:nvPr/>
        </p:nvSpPr>
        <p:spPr>
          <a:xfrm>
            <a:off x="45720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ニーズを伺う</a:t>
            </a:r>
            <a:endParaRPr lang="en-US" sz="1100" dirty="0"/>
          </a:p>
        </p:txBody>
      </p:sp>
      <p:sp>
        <p:nvSpPr>
          <p:cNvPr id="9" name="Text 7"/>
          <p:cNvSpPr txBox="1"/>
          <p:nvPr/>
        </p:nvSpPr>
        <p:spPr>
          <a:xfrm>
            <a:off x="45720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10" name="Step 2"/>
          <p:cNvSpPr/>
          <p:nvPr/>
        </p:nvSpPr>
        <p:spPr>
          <a:xfrm>
            <a:off x="2514600" y="1737360"/>
            <a:ext cx="822960" cy="822960"/>
          </a:xfrm>
          <a:prstGeom prst="ellipse">
            <a:avLst/>
          </a:prstGeom>
          <a:solidFill>
            <a:schemeClr val="accent3"/>
          </a:solidFill>
          <a:ln/>
        </p:spPr>
      </p:sp>
      <p:sp>
        <p:nvSpPr>
          <p:cNvPr id="11" name="Text 9"/>
          <p:cNvSpPr txBox="1"/>
          <p:nvPr/>
        </p:nvSpPr>
        <p:spPr>
          <a:xfrm>
            <a:off x="251460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2" name="Text 10"/>
          <p:cNvSpPr txBox="1"/>
          <p:nvPr/>
        </p:nvSpPr>
        <p:spPr>
          <a:xfrm>
            <a:off x="210312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価格重視タイプ</a:t>
            </a:r>
            <a:endParaRPr lang="en-US" sz="1400" dirty="0"/>
          </a:p>
        </p:txBody>
      </p:sp>
      <p:sp>
        <p:nvSpPr>
          <p:cNvPr id="13" name="Text 11"/>
          <p:cNvSpPr txBox="1"/>
          <p:nvPr/>
        </p:nvSpPr>
        <p:spPr>
          <a:xfrm>
            <a:off x="210312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毎日の普段使いに</a:t>
            </a:r>
            <a:endParaRPr lang="en-US" sz="1100" dirty="0"/>
          </a:p>
        </p:txBody>
      </p:sp>
      <p:sp>
        <p:nvSpPr>
          <p:cNvPr id="14" name="Text 12"/>
          <p:cNvSpPr txBox="1"/>
          <p:nvPr/>
        </p:nvSpPr>
        <p:spPr>
          <a:xfrm>
            <a:off x="210312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15" name="Step 3"/>
          <p:cNvSpPr/>
          <p:nvPr/>
        </p:nvSpPr>
        <p:spPr>
          <a:xfrm>
            <a:off x="4160520" y="1737360"/>
            <a:ext cx="822960" cy="822960"/>
          </a:xfrm>
          <a:prstGeom prst="ellipse">
            <a:avLst/>
          </a:prstGeom>
          <a:solidFill>
            <a:schemeClr val="accent2"/>
          </a:solidFill>
          <a:ln/>
        </p:spPr>
      </p:sp>
      <p:sp>
        <p:nvSpPr>
          <p:cNvPr id="16" name="Text 14"/>
          <p:cNvSpPr txBox="1"/>
          <p:nvPr/>
        </p:nvSpPr>
        <p:spPr>
          <a:xfrm>
            <a:off x="416052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7" name="Text 15"/>
          <p:cNvSpPr txBox="1"/>
          <p:nvPr/>
        </p:nvSpPr>
        <p:spPr>
          <a:xfrm>
            <a:off x="374904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高品質タイプ</a:t>
            </a:r>
            <a:endParaRPr lang="en-US" sz="1400" dirty="0"/>
          </a:p>
        </p:txBody>
      </p:sp>
      <p:sp>
        <p:nvSpPr>
          <p:cNvPr id="18" name="Text 16"/>
          <p:cNvSpPr txBox="1"/>
          <p:nvPr/>
        </p:nvSpPr>
        <p:spPr>
          <a:xfrm>
            <a:off x="374904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鼻をかむときに</a:t>
            </a:r>
            <a:endParaRPr lang="en-US" sz="1100" dirty="0"/>
          </a:p>
        </p:txBody>
      </p:sp>
      <p:sp>
        <p:nvSpPr>
          <p:cNvPr id="19" name="Text 17"/>
          <p:cNvSpPr txBox="1"/>
          <p:nvPr/>
        </p:nvSpPr>
        <p:spPr>
          <a:xfrm>
            <a:off x="374904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0" name="Step 4"/>
          <p:cNvSpPr/>
          <p:nvPr/>
        </p:nvSpPr>
        <p:spPr>
          <a:xfrm>
            <a:off x="5806440" y="1737360"/>
            <a:ext cx="822960" cy="822960"/>
          </a:xfrm>
          <a:prstGeom prst="ellipse">
            <a:avLst/>
          </a:prstGeom>
          <a:solidFill>
            <a:schemeClr val="tx2"/>
          </a:solidFill>
          <a:ln/>
        </p:spPr>
      </p:sp>
      <p:sp>
        <p:nvSpPr>
          <p:cNvPr id="21" name="Text 19"/>
          <p:cNvSpPr txBox="1"/>
          <p:nvPr/>
        </p:nvSpPr>
        <p:spPr>
          <a:xfrm>
            <a:off x="580644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2" name="Text 20"/>
          <p:cNvSpPr txBox="1"/>
          <p:nvPr/>
        </p:nvSpPr>
        <p:spPr>
          <a:xfrm>
            <a:off x="539496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比較・使い分け</a:t>
            </a:r>
            <a:endParaRPr lang="en-US" sz="1400" dirty="0"/>
          </a:p>
        </p:txBody>
      </p:sp>
      <p:sp>
        <p:nvSpPr>
          <p:cNvPr id="23" name="Text 21"/>
          <p:cNvSpPr txBox="1"/>
          <p:nvPr/>
        </p:nvSpPr>
        <p:spPr>
          <a:xfrm>
            <a:off x="539496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生活に合わせて提案</a:t>
            </a:r>
            <a:endParaRPr lang="en-US" sz="1100" dirty="0"/>
          </a:p>
        </p:txBody>
      </p:sp>
      <p:sp>
        <p:nvSpPr>
          <p:cNvPr id="24" name="Text 22"/>
          <p:cNvSpPr txBox="1"/>
          <p:nvPr/>
        </p:nvSpPr>
        <p:spPr>
          <a:xfrm>
            <a:off x="539496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5" name="Step 5"/>
          <p:cNvSpPr/>
          <p:nvPr/>
        </p:nvSpPr>
        <p:spPr>
          <a:xfrm>
            <a:off x="7452360" y="1737360"/>
            <a:ext cx="822960" cy="822960"/>
          </a:xfrm>
          <a:prstGeom prst="ellipse">
            <a:avLst/>
          </a:prstGeom>
          <a:solidFill>
            <a:schemeClr val="tx2"/>
          </a:solidFill>
          <a:ln/>
        </p:spPr>
      </p:sp>
      <p:sp>
        <p:nvSpPr>
          <p:cNvPr id="26" name="Text 24"/>
          <p:cNvSpPr txBox="1"/>
          <p:nvPr/>
        </p:nvSpPr>
        <p:spPr>
          <a:xfrm>
            <a:off x="745236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7" name="Text 25"/>
          <p:cNvSpPr txBox="1"/>
          <p:nvPr/>
        </p:nvSpPr>
        <p:spPr>
          <a:xfrm>
            <a:off x="704088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クロージング</a:t>
            </a:r>
            <a:endParaRPr lang="en-US" sz="1400" dirty="0"/>
          </a:p>
        </p:txBody>
      </p:sp>
      <p:sp>
        <p:nvSpPr>
          <p:cNvPr id="28" name="Text 26"/>
          <p:cNvSpPr txBox="1"/>
          <p:nvPr/>
        </p:nvSpPr>
        <p:spPr>
          <a:xfrm>
            <a:off x="704088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まずはお試しを</a:t>
            </a:r>
            <a:endParaRPr lang="en-US" sz="1100" dirty="0"/>
          </a:p>
        </p:txBody>
      </p:sp>
      <p:sp>
        <p:nvSpPr>
          <p:cNvPr id="29" name="Text 27"/>
          <p:cNvSpPr txBox="1"/>
          <p:nvPr/>
        </p:nvSpPr>
        <p:spPr>
          <a:xfrm>
            <a:off x="704088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① 導入・ヒアリング</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まずは、お客様が大切にしていることを伺う</a:t>
            </a:r>
            <a:endParaRPr lang="en-US" sz="2600" dirty="0"/>
          </a:p>
        </p:txBody>
      </p:sp>
      <p:sp>
        <p:nvSpPr>
          <p:cNvPr id="4" name="Sales circle"/>
          <p:cNvSpPr/>
          <p:nvPr/>
        </p:nvSpPr>
        <p:spPr>
          <a:xfrm>
            <a:off x="457200" y="1371600"/>
            <a:ext cx="502920" cy="502920"/>
          </a:xfrm>
          <a:prstGeom prst="ellipse">
            <a:avLst/>
          </a:prstGeom>
          <a:solidFill>
            <a:schemeClr val="tx2"/>
          </a:solidFill>
          <a:ln/>
        </p:spPr>
      </p:sp>
      <p:pic>
        <p:nvPicPr>
          <p:cNvPr id="5" name="Sales icon" descr="Sales">    </p:cNvPr>
          <p:cNvPicPr>
            <a:picLocks noChangeAspect="1"/>
          </p:cNvPicPr>
          <p:nvPr/>
        </p:nvPicPr>
        <p:blipFill>
          <a:blip r:embed="rId1"/>
          <a:stretch>
            <a:fillRect/>
          </a:stretch>
        </p:blipFill>
        <p:spPr>
          <a:xfrm>
            <a:off x="582930" y="1497330"/>
            <a:ext cx="251460" cy="251460"/>
          </a:xfrm>
          <a:prstGeom prst="rect">
            <a:avLst/>
          </a:prstGeom>
        </p:spPr>
      </p:pic>
      <p:sp>
        <p:nvSpPr>
          <p:cNvPr id="6" name="Question bubble"/>
          <p:cNvSpPr/>
          <p:nvPr/>
        </p:nvSpPr>
        <p:spPr>
          <a:xfrm>
            <a:off x="1097280" y="1371600"/>
            <a:ext cx="4206240" cy="685800"/>
          </a:xfrm>
          <a:prstGeom prst="roundRect">
            <a:avLst>
              <a:gd name="adj" fmla="val 16000"/>
            </a:avLst>
          </a:prstGeom>
          <a:solidFill>
            <a:schemeClr val="bg2"/>
          </a:solidFill>
          <a:ln/>
          <a:effectLst>
            <a:outerShdw sx="100000" sy="100000" kx="0" ky="0" algn="bl" rotWithShape="0" blurRad="76200" dist="25400" dir="5400000">
              <a:srgbClr val="000000">
                <a:alpha val="12000"/>
              </a:srgbClr>
            </a:outerShdw>
          </a:effectLst>
        </p:spPr>
      </p:sp>
      <p:sp>
        <p:nvSpPr>
          <p:cNvPr id="7" name="Text 4"/>
          <p:cNvSpPr txBox="1"/>
          <p:nvPr/>
        </p:nvSpPr>
        <p:spPr>
          <a:xfrm>
            <a:off x="1234440" y="1371600"/>
            <a:ext cx="3931920" cy="685800"/>
          </a:xfrm>
          <a:prstGeom prst="rect">
            <a:avLst/>
          </a:prstGeom>
          <a:noFill/>
          <a:ln/>
        </p:spPr>
        <p:txBody>
          <a:bodyPr wrap="square" lIns="0" tIns="0" rIns="0" bIns="0" rtlCol="0" anchor="ctr"/>
          <a:lstStyle/>
          <a:p>
            <a:pPr indent="0" marL="0">
              <a:buNone/>
            </a:pPr>
            <a:r>
              <a:rPr lang="en-US" sz="1200" dirty="0">
                <a:solidFill>
                  <a:schemeClr val="tx1"/>
                </a:solidFill>
              </a:rPr>
              <a:t>普段ティッシュを購入される際は、価格と使い心地のどちらを重視されていますか？</a:t>
            </a:r>
            <a:endParaRPr lang="en-US" sz="1200" dirty="0"/>
          </a:p>
        </p:txBody>
      </p:sp>
      <p:sp>
        <p:nvSpPr>
          <p:cNvPr id="8" name="Answer bubble"/>
          <p:cNvSpPr/>
          <p:nvPr/>
        </p:nvSpPr>
        <p:spPr>
          <a:xfrm>
            <a:off x="1828800" y="2194560"/>
            <a:ext cx="3474720" cy="457200"/>
          </a:xfrm>
          <a:prstGeom prst="roundRect">
            <a:avLst>
              <a:gd name="adj" fmla="val 24000"/>
            </a:avLst>
          </a:prstGeom>
          <a:solidFill>
            <a:schemeClr val="accent3"/>
          </a:solidFill>
          <a:ln/>
          <a:effectLst>
            <a:outerShdw sx="100000" sy="100000" kx="0" ky="0" algn="bl" rotWithShape="0" blurRad="76200" dist="25400" dir="5400000">
              <a:srgbClr val="000000">
                <a:alpha val="12000"/>
              </a:srgbClr>
            </a:outerShdw>
          </a:effectLst>
        </p:spPr>
      </p:sp>
      <p:sp>
        <p:nvSpPr>
          <p:cNvPr id="9" name="Text 6"/>
          <p:cNvSpPr txBox="1"/>
          <p:nvPr/>
        </p:nvSpPr>
        <p:spPr>
          <a:xfrm>
            <a:off x="1920240" y="2194560"/>
            <a:ext cx="3291840" cy="457200"/>
          </a:xfrm>
          <a:prstGeom prst="rect">
            <a:avLst/>
          </a:prstGeom>
          <a:noFill/>
          <a:ln/>
        </p:spPr>
        <p:txBody>
          <a:bodyPr wrap="square" lIns="0" tIns="0" rIns="0" bIns="0" rtlCol="0" anchor="ctr"/>
          <a:lstStyle/>
          <a:p>
            <a:pPr indent="0" marL="0">
              <a:buNone/>
            </a:pPr>
            <a:r>
              <a:rPr lang="en-US" sz="1300" b="1" dirty="0">
                <a:solidFill>
                  <a:schemeClr val="bg1"/>
                </a:solidFill>
              </a:rPr>
              <a:t>「やっぱり価格かな」</a:t>
            </a:r>
            <a:endParaRPr lang="en-US" sz="1300" dirty="0"/>
          </a:p>
        </p:txBody>
      </p:sp>
      <p:sp>
        <p:nvSpPr>
          <p:cNvPr id="10" name="Customer circle"/>
          <p:cNvSpPr/>
          <p:nvPr/>
        </p:nvSpPr>
        <p:spPr>
          <a:xfrm>
            <a:off x="5440680" y="2171700"/>
            <a:ext cx="502920" cy="502920"/>
          </a:xfrm>
          <a:prstGeom prst="ellipse">
            <a:avLst/>
          </a:prstGeom>
          <a:solidFill>
            <a:schemeClr val="accent3"/>
          </a:solidFill>
          <a:ln/>
        </p:spPr>
      </p:sp>
      <p:pic>
        <p:nvPicPr>
          <p:cNvPr id="11" name="Customer icon" descr="Customer">    </p:cNvPr>
          <p:cNvPicPr>
            <a:picLocks noChangeAspect="1"/>
          </p:cNvPicPr>
          <p:nvPr/>
        </p:nvPicPr>
        <p:blipFill>
          <a:blip r:embed="rId2"/>
          <a:stretch>
            <a:fillRect/>
          </a:stretch>
        </p:blipFill>
        <p:spPr>
          <a:xfrm>
            <a:off x="5566410" y="2297430"/>
            <a:ext cx="251460" cy="251460"/>
          </a:xfrm>
          <a:prstGeom prst="rect">
            <a:avLst/>
          </a:prstGeom>
        </p:spPr>
      </p:pic>
      <p:sp>
        <p:nvSpPr>
          <p:cNvPr id="12" name="Sales circle"/>
          <p:cNvSpPr/>
          <p:nvPr/>
        </p:nvSpPr>
        <p:spPr>
          <a:xfrm>
            <a:off x="457200" y="2971800"/>
            <a:ext cx="502920" cy="502920"/>
          </a:xfrm>
          <a:prstGeom prst="ellipse">
            <a:avLst/>
          </a:prstGeom>
          <a:solidFill>
            <a:schemeClr val="tx2"/>
          </a:solidFill>
          <a:ln/>
        </p:spPr>
      </p:sp>
      <p:pic>
        <p:nvPicPr>
          <p:cNvPr id="13" name="Sales icon" descr="Sales">    </p:cNvPr>
          <p:cNvPicPr>
            <a:picLocks noChangeAspect="1"/>
          </p:cNvPicPr>
          <p:nvPr/>
        </p:nvPicPr>
        <p:blipFill>
          <a:blip r:embed="rId3"/>
          <a:stretch>
            <a:fillRect/>
          </a:stretch>
        </p:blipFill>
        <p:spPr>
          <a:xfrm>
            <a:off x="582930" y="3097530"/>
            <a:ext cx="251460" cy="251460"/>
          </a:xfrm>
          <a:prstGeom prst="rect">
            <a:avLst/>
          </a:prstGeom>
        </p:spPr>
      </p:pic>
      <p:sp>
        <p:nvSpPr>
          <p:cNvPr id="14" name="Question bubble"/>
          <p:cNvSpPr/>
          <p:nvPr/>
        </p:nvSpPr>
        <p:spPr>
          <a:xfrm>
            <a:off x="1097280" y="2971800"/>
            <a:ext cx="4206240" cy="685800"/>
          </a:xfrm>
          <a:prstGeom prst="roundRect">
            <a:avLst>
              <a:gd name="adj" fmla="val 16000"/>
            </a:avLst>
          </a:prstGeom>
          <a:solidFill>
            <a:schemeClr val="bg2"/>
          </a:solidFill>
          <a:ln/>
          <a:effectLst>
            <a:outerShdw sx="100000" sy="100000" kx="0" ky="0" algn="bl" rotWithShape="0" blurRad="76200" dist="25400" dir="5400000">
              <a:srgbClr val="000000">
                <a:alpha val="12000"/>
              </a:srgbClr>
            </a:outerShdw>
          </a:effectLst>
        </p:spPr>
      </p:sp>
      <p:sp>
        <p:nvSpPr>
          <p:cNvPr id="15" name="Text 10"/>
          <p:cNvSpPr txBox="1"/>
          <p:nvPr/>
        </p:nvSpPr>
        <p:spPr>
          <a:xfrm>
            <a:off x="1234440" y="2971800"/>
            <a:ext cx="3931920" cy="685800"/>
          </a:xfrm>
          <a:prstGeom prst="rect">
            <a:avLst/>
          </a:prstGeom>
          <a:noFill/>
          <a:ln/>
        </p:spPr>
        <p:txBody>
          <a:bodyPr wrap="square" lIns="0" tIns="0" rIns="0" bIns="0" rtlCol="0" anchor="ctr"/>
          <a:lstStyle/>
          <a:p>
            <a:pPr indent="0" marL="0">
              <a:buNone/>
            </a:pPr>
            <a:r>
              <a:rPr lang="en-US" sz="1200" dirty="0">
                <a:solidFill>
                  <a:schemeClr val="tx1"/>
                </a:solidFill>
              </a:rPr>
              <a:t>普段はお食事の際やお掃除など、どのような場面で使われることが多いですか？</a:t>
            </a:r>
            <a:endParaRPr lang="en-US" sz="1200" dirty="0"/>
          </a:p>
        </p:txBody>
      </p:sp>
      <p:sp>
        <p:nvSpPr>
          <p:cNvPr id="16" name="Answer bubble"/>
          <p:cNvSpPr/>
          <p:nvPr/>
        </p:nvSpPr>
        <p:spPr>
          <a:xfrm>
            <a:off x="1828800" y="3794760"/>
            <a:ext cx="3474720" cy="457200"/>
          </a:xfrm>
          <a:prstGeom prst="roundRect">
            <a:avLst>
              <a:gd name="adj" fmla="val 24000"/>
            </a:avLst>
          </a:prstGeom>
          <a:solidFill>
            <a:schemeClr val="accent3"/>
          </a:solidFill>
          <a:ln/>
          <a:effectLst>
            <a:outerShdw sx="100000" sy="100000" kx="0" ky="0" algn="bl" rotWithShape="0" blurRad="76200" dist="25400" dir="5400000">
              <a:srgbClr val="000000">
                <a:alpha val="12000"/>
              </a:srgbClr>
            </a:outerShdw>
          </a:effectLst>
        </p:spPr>
      </p:sp>
      <p:sp>
        <p:nvSpPr>
          <p:cNvPr id="17" name="Text 12"/>
          <p:cNvSpPr txBox="1"/>
          <p:nvPr/>
        </p:nvSpPr>
        <p:spPr>
          <a:xfrm>
            <a:off x="1920240" y="3794760"/>
            <a:ext cx="3291840" cy="457200"/>
          </a:xfrm>
          <a:prstGeom prst="rect">
            <a:avLst/>
          </a:prstGeom>
          <a:noFill/>
          <a:ln/>
        </p:spPr>
        <p:txBody>
          <a:bodyPr wrap="square" lIns="0" tIns="0" rIns="0" bIns="0" rtlCol="0" anchor="ctr"/>
          <a:lstStyle/>
          <a:p>
            <a:pPr indent="0" marL="0">
              <a:buNone/>
            </a:pPr>
            <a:r>
              <a:rPr lang="en-US" sz="1300" b="1" dirty="0">
                <a:solidFill>
                  <a:schemeClr val="bg1"/>
                </a:solidFill>
              </a:rPr>
              <a:t>「食事のときとか、鼻をかむときかな」</a:t>
            </a:r>
            <a:endParaRPr lang="en-US" sz="1300" dirty="0"/>
          </a:p>
        </p:txBody>
      </p:sp>
      <p:sp>
        <p:nvSpPr>
          <p:cNvPr id="18" name="Customer circle"/>
          <p:cNvSpPr/>
          <p:nvPr/>
        </p:nvSpPr>
        <p:spPr>
          <a:xfrm>
            <a:off x="5440680" y="3771900"/>
            <a:ext cx="502920" cy="502920"/>
          </a:xfrm>
          <a:prstGeom prst="ellipse">
            <a:avLst/>
          </a:prstGeom>
          <a:solidFill>
            <a:schemeClr val="accent3"/>
          </a:solidFill>
          <a:ln/>
        </p:spPr>
      </p:sp>
      <p:pic>
        <p:nvPicPr>
          <p:cNvPr id="19" name="Customer icon" descr="Customer">    </p:cNvPr>
          <p:cNvPicPr>
            <a:picLocks noChangeAspect="1"/>
          </p:cNvPicPr>
          <p:nvPr/>
        </p:nvPicPr>
        <p:blipFill>
          <a:blip r:embed="rId4"/>
          <a:stretch>
            <a:fillRect/>
          </a:stretch>
        </p:blipFill>
        <p:spPr>
          <a:xfrm>
            <a:off x="5566410" y="3897630"/>
            <a:ext cx="251460" cy="251460"/>
          </a:xfrm>
          <a:prstGeom prst="rect">
            <a:avLst/>
          </a:prstGeom>
        </p:spPr>
      </p:pic>
      <p:sp>
        <p:nvSpPr>
          <p:cNvPr id="20" name="Insight card"/>
          <p:cNvSpPr/>
          <p:nvPr/>
        </p:nvSpPr>
        <p:spPr>
          <a:xfrm>
            <a:off x="6309360" y="1371600"/>
            <a:ext cx="2377440" cy="3108960"/>
          </a:xfrm>
          <a:prstGeom prst="roundRect">
            <a:avLst>
              <a:gd name="adj" fmla="val 4615"/>
            </a:avLst>
          </a:prstGeom>
          <a:solidFill>
            <a:schemeClr val="tx2"/>
          </a:solidFill>
          <a:ln/>
          <a:effectLst>
            <a:outerShdw sx="100000" sy="100000" kx="0" ky="0" algn="bl" rotWithShape="0" blurRad="76200" dist="25400" dir="5400000">
              <a:srgbClr val="000000">
                <a:alpha val="12000"/>
              </a:srgbClr>
            </a:outerShdw>
          </a:effectLst>
        </p:spPr>
      </p:sp>
      <p:pic>
        <p:nvPicPr>
          <p:cNvPr id="21" name="Insight icon" descr="ひらめき">    </p:cNvPr>
          <p:cNvPicPr>
            <a:picLocks noChangeAspect="1"/>
          </p:cNvPicPr>
          <p:nvPr/>
        </p:nvPicPr>
        <p:blipFill>
          <a:blip r:embed="rId5"/>
          <a:stretch>
            <a:fillRect/>
          </a:stretch>
        </p:blipFill>
        <p:spPr>
          <a:xfrm>
            <a:off x="6446520" y="1554480"/>
            <a:ext cx="365760" cy="365760"/>
          </a:xfrm>
          <a:prstGeom prst="rect">
            <a:avLst/>
          </a:prstGeom>
        </p:spPr>
      </p:pic>
      <p:sp>
        <p:nvSpPr>
          <p:cNvPr id="22" name="Text 15"/>
          <p:cNvSpPr txBox="1"/>
          <p:nvPr/>
        </p:nvSpPr>
        <p:spPr>
          <a:xfrm>
            <a:off x="6903720" y="1572768"/>
            <a:ext cx="1645920" cy="365760"/>
          </a:xfrm>
          <a:prstGeom prst="rect">
            <a:avLst/>
          </a:prstGeom>
          <a:noFill/>
          <a:ln/>
        </p:spPr>
        <p:txBody>
          <a:bodyPr wrap="square" lIns="0" tIns="0" rIns="0" bIns="0" rtlCol="0" anchor="ctr"/>
          <a:lstStyle/>
          <a:p>
            <a:pPr indent="0" marL="0">
              <a:buNone/>
            </a:pPr>
            <a:r>
              <a:rPr lang="en-US" sz="1400" b="1" dirty="0">
                <a:solidFill>
                  <a:schemeClr val="bg1"/>
                </a:solidFill>
              </a:rPr>
              <a:t>見えたニーズ</a:t>
            </a:r>
            <a:endParaRPr lang="en-US" sz="1400" dirty="0"/>
          </a:p>
        </p:txBody>
      </p:sp>
      <p:sp>
        <p:nvSpPr>
          <p:cNvPr id="23" name="Text 16"/>
          <p:cNvSpPr txBox="1"/>
          <p:nvPr/>
        </p:nvSpPr>
        <p:spPr>
          <a:xfrm>
            <a:off x="6446520" y="2103120"/>
            <a:ext cx="2103120" cy="1280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重視するのは「価格」</a:t>
            </a:r>
            <a:endParaRPr lang="en-US" sz="1200" dirty="0"/>
          </a:p>
          <a:p>
            <a:pPr marL="342900" indent="-342900">
              <a:spcAft>
                <a:spcPts val="600"/>
              </a:spcAft>
              <a:buSzPct val="100000"/>
              <a:buChar char="•"/>
            </a:pPr>
            <a:r>
              <a:rPr lang="en-US" sz="1200" dirty="0">
                <a:solidFill>
                  <a:schemeClr val="bg1"/>
                </a:solidFill>
              </a:rPr>
              <a:t>使う場面は「食事」と「鼻をかむとき」</a:t>
            </a:r>
            <a:endParaRPr lang="en-US" sz="1200" dirty="0"/>
          </a:p>
        </p:txBody>
      </p:sp>
      <p:sp>
        <p:nvSpPr>
          <p:cNvPr id="24" name="Text 17"/>
          <p:cNvSpPr txBox="1"/>
          <p:nvPr/>
        </p:nvSpPr>
        <p:spPr>
          <a:xfrm>
            <a:off x="6446520" y="3520440"/>
            <a:ext cx="2103120" cy="731520"/>
          </a:xfrm>
          <a:prstGeom prst="rect">
            <a:avLst/>
          </a:prstGeom>
          <a:noFill/>
          <a:ln/>
        </p:spPr>
        <p:txBody>
          <a:bodyPr wrap="square" lIns="0" tIns="0" rIns="0" bIns="0" rtlCol="0" anchor="t"/>
          <a:lstStyle/>
          <a:p>
            <a:pPr indent="0" marL="0">
              <a:buNone/>
            </a:pPr>
            <a:r>
              <a:rPr lang="en-US" sz="1300" b="1" dirty="0">
                <a:solidFill>
                  <a:schemeClr val="accent4"/>
                </a:solidFill>
              </a:rPr>
              <a:t>→ 場面ごとの</a:t>
            </a:r>
            <a:endParaRPr lang="en-US" sz="1300" dirty="0"/>
          </a:p>
          <a:p>
            <a:pPr indent="0" marL="0">
              <a:buNone/>
            </a:pPr>
            <a:r>
              <a:rPr lang="en-US" sz="1300" b="1" dirty="0">
                <a:solidFill>
                  <a:schemeClr val="accent4"/>
                </a:solidFill>
              </a:rPr>
              <a:t>「使い分け」をご提案</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② 価格重視タイプ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毎日、気兼ねなく使える</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3"/>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価格重視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価格重視タイプ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一般的なティッシュ</a:t>
            </a:r>
            <a:endParaRPr lang="en-US" sz="1200" dirty="0"/>
          </a:p>
          <a:p>
            <a:pPr algn="ctr" indent="0" marL="0">
              <a:buNone/>
            </a:pPr>
            <a:r>
              <a:rPr lang="en-US" sz="1200" dirty="0">
                <a:solidFill>
                  <a:schemeClr val="bg1"/>
                </a:solidFill>
              </a:rPr>
              <a:t>使用頻度の高い場面に</a:t>
            </a:r>
            <a:endParaRPr lang="en-US" sz="1200" dirty="0"/>
          </a:p>
        </p:txBody>
      </p:sp>
      <p:sp>
        <p:nvSpPr>
          <p:cNvPr id="9" name="お食事のときに circle"/>
          <p:cNvSpPr/>
          <p:nvPr/>
        </p:nvSpPr>
        <p:spPr>
          <a:xfrm>
            <a:off x="3749040" y="1463040"/>
            <a:ext cx="640080" cy="640080"/>
          </a:xfrm>
          <a:prstGeom prst="ellipse">
            <a:avLst/>
          </a:prstGeom>
          <a:solidFill>
            <a:schemeClr val="bg2"/>
          </a:solidFill>
          <a:ln/>
        </p:spPr>
      </p:sp>
      <p:pic>
        <p:nvPicPr>
          <p:cNvPr id="10" name="お食事のときに icon" descr="お食事のときに">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お食事のときに</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口元を拭くなど、毎日何度も使う場面に</a:t>
            </a:r>
            <a:endParaRPr lang="en-US" sz="1200" dirty="0"/>
          </a:p>
        </p:txBody>
      </p:sp>
      <p:sp>
        <p:nvSpPr>
          <p:cNvPr id="13" name="ちょっとした汚れに circle"/>
          <p:cNvSpPr/>
          <p:nvPr/>
        </p:nvSpPr>
        <p:spPr>
          <a:xfrm>
            <a:off x="3749040" y="2514600"/>
            <a:ext cx="640080" cy="640080"/>
          </a:xfrm>
          <a:prstGeom prst="ellipse">
            <a:avLst/>
          </a:prstGeom>
          <a:solidFill>
            <a:schemeClr val="bg2"/>
          </a:solidFill>
          <a:ln/>
        </p:spPr>
      </p:sp>
      <p:pic>
        <p:nvPicPr>
          <p:cNvPr id="14" name="ちょっとした汚れに icon" descr="ちょっとした汚れに">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ちょっとした汚れに</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テーブルや手元をさっと拭きたいときに</a:t>
            </a:r>
            <a:endParaRPr lang="en-US" sz="1200" dirty="0"/>
          </a:p>
        </p:txBody>
      </p:sp>
      <p:sp>
        <p:nvSpPr>
          <p:cNvPr id="17" name="ご家族が多いご家庭に circle"/>
          <p:cNvSpPr/>
          <p:nvPr/>
        </p:nvSpPr>
        <p:spPr>
          <a:xfrm>
            <a:off x="3749040" y="3566160"/>
            <a:ext cx="640080" cy="640080"/>
          </a:xfrm>
          <a:prstGeom prst="ellipse">
            <a:avLst/>
          </a:prstGeom>
          <a:solidFill>
            <a:schemeClr val="bg2"/>
          </a:solidFill>
          <a:ln/>
        </p:spPr>
      </p:sp>
      <p:pic>
        <p:nvPicPr>
          <p:cNvPr id="18" name="ご家族が多いご家庭に icon" descr="ご家族が多いご家庭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ご家族が多いご家庭に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使用量が多くても、費用を抑えられます</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③ 高品質タイプ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鼻をかむたびに、やさしい使い心地</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2"/>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高品質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高品質タイプ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鼻セレブのような</a:t>
            </a:r>
            <a:endParaRPr lang="en-US" sz="1200" dirty="0"/>
          </a:p>
          <a:p>
            <a:pPr algn="ctr" indent="0" marL="0">
              <a:buNone/>
            </a:pPr>
            <a:r>
              <a:rPr lang="en-US" sz="1200" dirty="0">
                <a:solidFill>
                  <a:schemeClr val="bg1"/>
                </a:solidFill>
              </a:rPr>
              <a:t>肌触り重視のティッシュ</a:t>
            </a:r>
            <a:endParaRPr lang="en-US" sz="1200" dirty="0"/>
          </a:p>
        </p:txBody>
      </p:sp>
      <p:sp>
        <p:nvSpPr>
          <p:cNvPr id="9" name="やわらかさ circle"/>
          <p:cNvSpPr/>
          <p:nvPr/>
        </p:nvSpPr>
        <p:spPr>
          <a:xfrm>
            <a:off x="3749040" y="1463040"/>
            <a:ext cx="640080" cy="640080"/>
          </a:xfrm>
          <a:prstGeom prst="ellipse">
            <a:avLst/>
          </a:prstGeom>
          <a:solidFill>
            <a:schemeClr val="bg2"/>
          </a:solidFill>
          <a:ln/>
        </p:spPr>
      </p:sp>
      <p:pic>
        <p:nvPicPr>
          <p:cNvPr id="10" name="やわらかさ icon" descr="やわらかさ">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やわらかさ</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一般的なティッシュよりも、しっとりやわらか</a:t>
            </a:r>
            <a:endParaRPr lang="en-US" sz="1200" dirty="0"/>
          </a:p>
        </p:txBody>
      </p:sp>
      <p:sp>
        <p:nvSpPr>
          <p:cNvPr id="13" name="肌への摩擦に配慮 circle"/>
          <p:cNvSpPr/>
          <p:nvPr/>
        </p:nvSpPr>
        <p:spPr>
          <a:xfrm>
            <a:off x="3749040" y="2514600"/>
            <a:ext cx="640080" cy="640080"/>
          </a:xfrm>
          <a:prstGeom prst="ellipse">
            <a:avLst/>
          </a:prstGeom>
          <a:solidFill>
            <a:schemeClr val="bg2"/>
          </a:solidFill>
          <a:ln/>
        </p:spPr>
      </p:sp>
      <p:pic>
        <p:nvPicPr>
          <p:cNvPr id="14" name="肌への摩擦に配慮 icon" descr="肌への摩擦に配慮">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肌への摩擦に配慮</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何度使っても、鼻の周りにやさしい</a:t>
            </a:r>
            <a:endParaRPr lang="en-US" sz="1200" dirty="0"/>
          </a:p>
        </p:txBody>
      </p:sp>
      <p:sp>
        <p:nvSpPr>
          <p:cNvPr id="17" name="花粉症・風邪の時期に circle"/>
          <p:cNvSpPr/>
          <p:nvPr/>
        </p:nvSpPr>
        <p:spPr>
          <a:xfrm>
            <a:off x="3749040" y="3566160"/>
            <a:ext cx="640080" cy="640080"/>
          </a:xfrm>
          <a:prstGeom prst="ellipse">
            <a:avLst/>
          </a:prstGeom>
          <a:solidFill>
            <a:schemeClr val="bg2"/>
          </a:solidFill>
          <a:ln/>
        </p:spPr>
      </p:sp>
      <p:pic>
        <p:nvPicPr>
          <p:cNvPr id="18" name="花粉症・風邪の時期に icon" descr="花粉症・風邪の時期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花粉症・風邪の時期に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鼻をかむ回数が増えるほど、違いを実感</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④ 比較・お客様に合わせたご提案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どちらが良いかではなく、場面で使い分ける</a:t>
            </a:r>
            <a:endParaRPr lang="en-US" sz="2600" dirty="0"/>
          </a:p>
        </p:txBody>
      </p:sp>
      <p:sp>
        <p:nvSpPr>
          <p:cNvPr id="4" name="Scene card"/>
          <p:cNvSpPr/>
          <p:nvPr/>
        </p:nvSpPr>
        <p:spPr>
          <a:xfrm>
            <a:off x="45720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5" name="食卓・リビング circle"/>
          <p:cNvSpPr/>
          <p:nvPr/>
        </p:nvSpPr>
        <p:spPr>
          <a:xfrm>
            <a:off x="731520" y="1600200"/>
            <a:ext cx="777240" cy="777240"/>
          </a:xfrm>
          <a:prstGeom prst="ellipse">
            <a:avLst/>
          </a:prstGeom>
          <a:solidFill>
            <a:schemeClr val="accent3"/>
          </a:solidFill>
          <a:ln/>
        </p:spPr>
      </p:sp>
      <p:pic>
        <p:nvPicPr>
          <p:cNvPr id="6" name="食卓・リビング icon" descr="食卓・リビング">    </p:cNvPr>
          <p:cNvPicPr>
            <a:picLocks noChangeAspect="1"/>
          </p:cNvPicPr>
          <p:nvPr/>
        </p:nvPicPr>
        <p:blipFill>
          <a:blip r:embed="rId1"/>
          <a:stretch>
            <a:fillRect/>
          </a:stretch>
        </p:blipFill>
        <p:spPr>
          <a:xfrm>
            <a:off x="925830" y="1794510"/>
            <a:ext cx="388620" cy="388620"/>
          </a:xfrm>
          <a:prstGeom prst="rect">
            <a:avLst/>
          </a:prstGeom>
        </p:spPr>
      </p:pic>
      <p:sp>
        <p:nvSpPr>
          <p:cNvPr id="7" name="Text 4"/>
          <p:cNvSpPr txBox="1"/>
          <p:nvPr/>
        </p:nvSpPr>
        <p:spPr>
          <a:xfrm>
            <a:off x="169164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食卓・リビング</a:t>
            </a:r>
            <a:endParaRPr lang="en-US" sz="1800" dirty="0"/>
          </a:p>
        </p:txBody>
      </p:sp>
      <p:sp>
        <p:nvSpPr>
          <p:cNvPr id="8" name="Product tag"/>
          <p:cNvSpPr/>
          <p:nvPr/>
        </p:nvSpPr>
        <p:spPr>
          <a:xfrm>
            <a:off x="1691640" y="2103120"/>
            <a:ext cx="1920240" cy="365760"/>
          </a:xfrm>
          <a:prstGeom prst="roundRect">
            <a:avLst>
              <a:gd name="adj" fmla="val 50000"/>
            </a:avLst>
          </a:prstGeom>
          <a:solidFill>
            <a:schemeClr val="accent3"/>
          </a:solidFill>
          <a:ln/>
        </p:spPr>
      </p:sp>
      <p:sp>
        <p:nvSpPr>
          <p:cNvPr id="9" name="Text 6"/>
          <p:cNvSpPr txBox="1"/>
          <p:nvPr/>
        </p:nvSpPr>
        <p:spPr>
          <a:xfrm>
            <a:off x="169164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価格重視タイプ</a:t>
            </a:r>
            <a:endParaRPr lang="en-US" sz="1300" dirty="0"/>
          </a:p>
        </p:txBody>
      </p:sp>
      <p:sp>
        <p:nvSpPr>
          <p:cNvPr id="10" name="Text 7"/>
          <p:cNvSpPr txBox="1"/>
          <p:nvPr/>
        </p:nvSpPr>
        <p:spPr>
          <a:xfrm>
            <a:off x="73152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毎日たくさん使う場所は、費用を抑えて</a:t>
            </a:r>
            <a:endParaRPr lang="en-US" sz="1300" dirty="0"/>
          </a:p>
        </p:txBody>
      </p:sp>
      <p:sp>
        <p:nvSpPr>
          <p:cNvPr id="11" name="Scene card"/>
          <p:cNvSpPr/>
          <p:nvPr/>
        </p:nvSpPr>
        <p:spPr>
          <a:xfrm>
            <a:off x="466344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2" name="寝室・花粉症の時期 circle"/>
          <p:cNvSpPr/>
          <p:nvPr/>
        </p:nvSpPr>
        <p:spPr>
          <a:xfrm>
            <a:off x="4937760" y="1600200"/>
            <a:ext cx="777240" cy="777240"/>
          </a:xfrm>
          <a:prstGeom prst="ellipse">
            <a:avLst/>
          </a:prstGeom>
          <a:solidFill>
            <a:schemeClr val="accent2"/>
          </a:solidFill>
          <a:ln/>
        </p:spPr>
      </p:sp>
      <p:pic>
        <p:nvPicPr>
          <p:cNvPr id="13" name="寝室・花粉症の時期 icon" descr="寝室・花粉症の時期">    </p:cNvPr>
          <p:cNvPicPr>
            <a:picLocks noChangeAspect="1"/>
          </p:cNvPicPr>
          <p:nvPr/>
        </p:nvPicPr>
        <p:blipFill>
          <a:blip r:embed="rId2"/>
          <a:stretch>
            <a:fillRect/>
          </a:stretch>
        </p:blipFill>
        <p:spPr>
          <a:xfrm>
            <a:off x="5132070" y="1794510"/>
            <a:ext cx="388620" cy="388620"/>
          </a:xfrm>
          <a:prstGeom prst="rect">
            <a:avLst/>
          </a:prstGeom>
        </p:spPr>
      </p:pic>
      <p:sp>
        <p:nvSpPr>
          <p:cNvPr id="14" name="Text 10"/>
          <p:cNvSpPr txBox="1"/>
          <p:nvPr/>
        </p:nvSpPr>
        <p:spPr>
          <a:xfrm>
            <a:off x="589788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寝室・花粉症の時期</a:t>
            </a:r>
            <a:endParaRPr lang="en-US" sz="1800" dirty="0"/>
          </a:p>
        </p:txBody>
      </p:sp>
      <p:sp>
        <p:nvSpPr>
          <p:cNvPr id="15" name="Product tag"/>
          <p:cNvSpPr/>
          <p:nvPr/>
        </p:nvSpPr>
        <p:spPr>
          <a:xfrm>
            <a:off x="5897880" y="2103120"/>
            <a:ext cx="1920240" cy="365760"/>
          </a:xfrm>
          <a:prstGeom prst="roundRect">
            <a:avLst>
              <a:gd name="adj" fmla="val 50000"/>
            </a:avLst>
          </a:prstGeom>
          <a:solidFill>
            <a:schemeClr val="accent2"/>
          </a:solidFill>
          <a:ln/>
        </p:spPr>
      </p:sp>
      <p:sp>
        <p:nvSpPr>
          <p:cNvPr id="16" name="Text 12"/>
          <p:cNvSpPr txBox="1"/>
          <p:nvPr/>
        </p:nvSpPr>
        <p:spPr>
          <a:xfrm>
            <a:off x="589788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高品質タイプ</a:t>
            </a:r>
            <a:endParaRPr lang="en-US" sz="1300" dirty="0"/>
          </a:p>
        </p:txBody>
      </p:sp>
      <p:sp>
        <p:nvSpPr>
          <p:cNvPr id="17" name="Text 13"/>
          <p:cNvSpPr txBox="1"/>
          <p:nvPr/>
        </p:nvSpPr>
        <p:spPr>
          <a:xfrm>
            <a:off x="493776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鼻をかむ場面は、肌へのやさしさを</a:t>
            </a:r>
            <a:endParaRPr lang="en-US" sz="1300" dirty="0"/>
          </a:p>
        </p:txBody>
      </p:sp>
      <p:sp>
        <p:nvSpPr>
          <p:cNvPr id="18" name="Benefit band"/>
          <p:cNvSpPr/>
          <p:nvPr/>
        </p:nvSpPr>
        <p:spPr>
          <a:xfrm>
            <a:off x="457200" y="3611880"/>
            <a:ext cx="8229600" cy="731520"/>
          </a:xfrm>
          <a:prstGeom prst="roundRect">
            <a:avLst>
              <a:gd name="adj" fmla="val 15000"/>
            </a:avLst>
          </a:prstGeom>
          <a:solidFill>
            <a:schemeClr val="tx2"/>
          </a:solidFill>
          <a:ln/>
          <a:effectLst>
            <a:outerShdw sx="100000" sy="100000" kx="0" ky="0" algn="bl" rotWithShape="0" blurRad="76200" dist="25400" dir="5400000">
              <a:srgbClr val="000000">
                <a:alpha val="12000"/>
              </a:srgbClr>
            </a:outerShdw>
          </a:effectLst>
        </p:spPr>
      </p:sp>
      <p:sp>
        <p:nvSpPr>
          <p:cNvPr id="19" name="Text 15"/>
          <p:cNvSpPr txBox="1"/>
          <p:nvPr/>
        </p:nvSpPr>
        <p:spPr>
          <a:xfrm>
            <a:off x="685800" y="3611880"/>
            <a:ext cx="7772400" cy="731520"/>
          </a:xfrm>
          <a:prstGeom prst="rect">
            <a:avLst/>
          </a:prstGeom>
          <a:noFill/>
          <a:ln/>
        </p:spPr>
        <p:txBody>
          <a:bodyPr wrap="square" lIns="0" tIns="0" rIns="0" bIns="0" rtlCol="0" anchor="ctr"/>
          <a:lstStyle/>
          <a:p>
            <a:pPr algn="ctr" indent="0" marL="0">
              <a:buNone/>
            </a:pPr>
            <a:r>
              <a:rPr lang="en-US" sz="1600" b="1" dirty="0">
                <a:solidFill>
                  <a:schemeClr val="bg1"/>
                </a:solidFill>
              </a:rPr>
              <a:t>日々の費用を抑えながら、必要な場面では快適さも大切にできる</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⑤ クロージング</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まずは、1つずつお試しください</a:t>
            </a:r>
            <a:endParaRPr lang="en-US" sz="2600" dirty="0"/>
          </a:p>
        </p:txBody>
      </p:sp>
      <p:sp>
        <p:nvSpPr>
          <p:cNvPr id="4" name="Trial card"/>
          <p:cNvSpPr/>
          <p:nvPr/>
        </p:nvSpPr>
        <p:spPr>
          <a:xfrm>
            <a:off x="822960" y="1371600"/>
            <a:ext cx="3200400" cy="1828800"/>
          </a:xfrm>
          <a:prstGeom prst="roundRect">
            <a:avLst>
              <a:gd name="adj" fmla="val 6000"/>
            </a:avLst>
          </a:prstGeom>
          <a:solidFill>
            <a:schemeClr val="accent3"/>
          </a:solidFill>
          <a:ln/>
          <a:effectLst>
            <a:outerShdw sx="100000" sy="100000" kx="0" ky="0" algn="bl" rotWithShape="0" blurRad="76200" dist="25400" dir="5400000">
              <a:srgbClr val="000000">
                <a:alpha val="12000"/>
              </a:srgbClr>
            </a:outerShdw>
          </a:effectLst>
        </p:spPr>
      </p:sp>
      <p:pic>
        <p:nvPicPr>
          <p:cNvPr id="5" name="Trial icon" descr="価格重視タイプ">    </p:cNvPr>
          <p:cNvPicPr>
            <a:picLocks noChangeAspect="1"/>
          </p:cNvPicPr>
          <p:nvPr/>
        </p:nvPicPr>
        <p:blipFill>
          <a:blip r:embed="rId1"/>
          <a:stretch>
            <a:fillRect/>
          </a:stretch>
        </p:blipFill>
        <p:spPr>
          <a:xfrm>
            <a:off x="1097280" y="1600200"/>
            <a:ext cx="548640" cy="548640"/>
          </a:xfrm>
          <a:prstGeom prst="rect">
            <a:avLst/>
          </a:prstGeom>
        </p:spPr>
      </p:pic>
      <p:sp>
        <p:nvSpPr>
          <p:cNvPr id="6" name="Text 3"/>
          <p:cNvSpPr txBox="1"/>
          <p:nvPr/>
        </p:nvSpPr>
        <p:spPr>
          <a:xfrm>
            <a:off x="109728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普段使い用</a:t>
            </a:r>
            <a:endParaRPr lang="en-US" sz="1300" dirty="0"/>
          </a:p>
        </p:txBody>
      </p:sp>
      <p:sp>
        <p:nvSpPr>
          <p:cNvPr id="7" name="Text 4"/>
          <p:cNvSpPr txBox="1"/>
          <p:nvPr/>
        </p:nvSpPr>
        <p:spPr>
          <a:xfrm>
            <a:off x="109728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価格重視タイプ</a:t>
            </a:r>
            <a:endParaRPr lang="en-US" sz="2000" dirty="0"/>
          </a:p>
        </p:txBody>
      </p:sp>
      <p:sp>
        <p:nvSpPr>
          <p:cNvPr id="8" name="Trial card"/>
          <p:cNvSpPr/>
          <p:nvPr/>
        </p:nvSpPr>
        <p:spPr>
          <a:xfrm>
            <a:off x="5120640" y="1371600"/>
            <a:ext cx="3200400" cy="1828800"/>
          </a:xfrm>
          <a:prstGeom prst="roundRect">
            <a:avLst>
              <a:gd name="adj" fmla="val 6000"/>
            </a:avLst>
          </a:prstGeom>
          <a:solidFill>
            <a:schemeClr val="accent2"/>
          </a:solidFill>
          <a:ln/>
          <a:effectLst>
            <a:outerShdw sx="100000" sy="100000" kx="0" ky="0" algn="bl" rotWithShape="0" blurRad="76200" dist="25400" dir="5400000">
              <a:srgbClr val="000000">
                <a:alpha val="12000"/>
              </a:srgbClr>
            </a:outerShdw>
          </a:effectLst>
        </p:spPr>
      </p:sp>
      <p:pic>
        <p:nvPicPr>
          <p:cNvPr id="9" name="Trial icon" descr="高品質タイプ">    </p:cNvPr>
          <p:cNvPicPr>
            <a:picLocks noChangeAspect="1"/>
          </p:cNvPicPr>
          <p:nvPr/>
        </p:nvPicPr>
        <p:blipFill>
          <a:blip r:embed="rId2"/>
          <a:stretch>
            <a:fillRect/>
          </a:stretch>
        </p:blipFill>
        <p:spPr>
          <a:xfrm>
            <a:off x="5394960" y="1600200"/>
            <a:ext cx="548640" cy="548640"/>
          </a:xfrm>
          <a:prstGeom prst="rect">
            <a:avLst/>
          </a:prstGeom>
        </p:spPr>
      </p:pic>
      <p:sp>
        <p:nvSpPr>
          <p:cNvPr id="10" name="Text 6"/>
          <p:cNvSpPr txBox="1"/>
          <p:nvPr/>
        </p:nvSpPr>
        <p:spPr>
          <a:xfrm>
            <a:off x="539496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鼻をかむとき用</a:t>
            </a:r>
            <a:endParaRPr lang="en-US" sz="1300" dirty="0"/>
          </a:p>
        </p:txBody>
      </p:sp>
      <p:sp>
        <p:nvSpPr>
          <p:cNvPr id="11" name="Text 7"/>
          <p:cNvSpPr txBox="1"/>
          <p:nvPr/>
        </p:nvSpPr>
        <p:spPr>
          <a:xfrm>
            <a:off x="539496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高品質タイプ</a:t>
            </a:r>
            <a:endParaRPr lang="en-US" sz="2000" dirty="0"/>
          </a:p>
        </p:txBody>
      </p:sp>
      <p:pic>
        <p:nvPicPr>
          <p:cNvPr id="12" name="Plus" descr="プラス">    </p:cNvPr>
          <p:cNvPicPr>
            <a:picLocks noChangeAspect="1"/>
          </p:cNvPicPr>
          <p:nvPr/>
        </p:nvPicPr>
        <p:blipFill>
          <a:blip r:embed="rId3"/>
          <a:stretch>
            <a:fillRect/>
          </a:stretch>
        </p:blipFill>
        <p:spPr>
          <a:xfrm>
            <a:off x="4343400" y="2057400"/>
            <a:ext cx="457200" cy="457200"/>
          </a:xfrm>
          <a:prstGeom prst="rect">
            <a:avLst/>
          </a:prstGeom>
        </p:spPr>
      </p:pic>
      <p:sp>
        <p:nvSpPr>
          <p:cNvPr id="13" name="Text 8"/>
          <p:cNvSpPr txBox="1"/>
          <p:nvPr/>
        </p:nvSpPr>
        <p:spPr>
          <a:xfrm>
            <a:off x="822960" y="3566160"/>
            <a:ext cx="7498080" cy="457200"/>
          </a:xfrm>
          <a:prstGeom prst="rect">
            <a:avLst/>
          </a:prstGeom>
          <a:noFill/>
          <a:ln/>
        </p:spPr>
        <p:txBody>
          <a:bodyPr wrap="square" lIns="0" tIns="0" rIns="0" bIns="0" rtlCol="0" anchor="t"/>
          <a:lstStyle/>
          <a:p>
            <a:pPr algn="ctr" indent="0" marL="0">
              <a:buNone/>
            </a:pPr>
            <a:r>
              <a:rPr lang="en-US" sz="1600" b="1" dirty="0">
                <a:solidFill>
                  <a:schemeClr val="tx2"/>
                </a:solidFill>
              </a:rPr>
              <a:t>価格だけでも、品質だけでもなく、お客様の生活に合った商品を。</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POINTS</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この提案で意識したポイント</a:t>
            </a:r>
            <a:endParaRPr lang="en-US" sz="2600" dirty="0"/>
          </a:p>
        </p:txBody>
      </p:sp>
      <p:sp>
        <p:nvSpPr>
          <p:cNvPr id="4" name="Point card"/>
          <p:cNvSpPr/>
          <p:nvPr/>
        </p:nvSpPr>
        <p:spPr>
          <a:xfrm>
            <a:off x="457200" y="13716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5" name="まず伺う circle"/>
          <p:cNvSpPr/>
          <p:nvPr/>
        </p:nvSpPr>
        <p:spPr>
          <a:xfrm>
            <a:off x="685800" y="1645920"/>
            <a:ext cx="822960" cy="822960"/>
          </a:xfrm>
          <a:prstGeom prst="ellipse">
            <a:avLst/>
          </a:prstGeom>
          <a:solidFill>
            <a:schemeClr val="tx2"/>
          </a:solidFill>
          <a:ln/>
        </p:spPr>
      </p:sp>
      <p:pic>
        <p:nvPicPr>
          <p:cNvPr id="6" name="まず伺う icon" descr="まず伺う">    </p:cNvPr>
          <p:cNvPicPr>
            <a:picLocks noChangeAspect="1"/>
          </p:cNvPicPr>
          <p:nvPr/>
        </p:nvPicPr>
        <p:blipFill>
          <a:blip r:embed="rId1"/>
          <a:stretch>
            <a:fillRect/>
          </a:stretch>
        </p:blipFill>
        <p:spPr>
          <a:xfrm>
            <a:off x="891540" y="1851660"/>
            <a:ext cx="411480" cy="411480"/>
          </a:xfrm>
          <a:prstGeom prst="rect">
            <a:avLst/>
          </a:prstGeom>
        </p:spPr>
      </p:pic>
      <p:sp>
        <p:nvSpPr>
          <p:cNvPr id="7" name="Text 4"/>
          <p:cNvSpPr txBox="1"/>
          <p:nvPr/>
        </p:nvSpPr>
        <p:spPr>
          <a:xfrm>
            <a:off x="1737360" y="16002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1. まず伺う</a:t>
            </a:r>
            <a:endParaRPr lang="en-US" sz="1600" dirty="0"/>
          </a:p>
        </p:txBody>
      </p:sp>
      <p:sp>
        <p:nvSpPr>
          <p:cNvPr id="8" name="Text 5"/>
          <p:cNvSpPr txBox="1"/>
          <p:nvPr/>
        </p:nvSpPr>
        <p:spPr>
          <a:xfrm>
            <a:off x="1737360" y="2011680"/>
            <a:ext cx="2560320" cy="640080"/>
          </a:xfrm>
          <a:prstGeom prst="rect">
            <a:avLst/>
          </a:prstGeom>
          <a:noFill/>
          <a:ln/>
        </p:spPr>
        <p:txBody>
          <a:bodyPr wrap="square" lIns="0" tIns="0" rIns="0" bIns="0" rtlCol="0" anchor="t"/>
          <a:lstStyle/>
          <a:p>
            <a:pPr indent="0" marL="0">
              <a:buNone/>
            </a:pPr>
            <a:r>
              <a:rPr lang="en-US" sz="1200" dirty="0">
                <a:solidFill>
                  <a:schemeClr val="tx1"/>
                </a:solidFill>
              </a:rPr>
              <a:t>価格と使い心地のどちらを重視するか、どんな場面で使うかを質問</a:t>
            </a:r>
            <a:endParaRPr lang="en-US" sz="1200" dirty="0"/>
          </a:p>
        </p:txBody>
      </p:sp>
      <p:sp>
        <p:nvSpPr>
          <p:cNvPr id="9" name="Point card"/>
          <p:cNvSpPr/>
          <p:nvPr/>
        </p:nvSpPr>
        <p:spPr>
          <a:xfrm>
            <a:off x="4663440" y="13716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0" name="共感する circle"/>
          <p:cNvSpPr/>
          <p:nvPr/>
        </p:nvSpPr>
        <p:spPr>
          <a:xfrm>
            <a:off x="4892040" y="1645920"/>
            <a:ext cx="822960" cy="822960"/>
          </a:xfrm>
          <a:prstGeom prst="ellipse">
            <a:avLst/>
          </a:prstGeom>
          <a:solidFill>
            <a:schemeClr val="accent3"/>
          </a:solidFill>
          <a:ln/>
        </p:spPr>
      </p:sp>
      <p:pic>
        <p:nvPicPr>
          <p:cNvPr id="11" name="共感する icon" descr="共感する">    </p:cNvPr>
          <p:cNvPicPr>
            <a:picLocks noChangeAspect="1"/>
          </p:cNvPicPr>
          <p:nvPr/>
        </p:nvPicPr>
        <p:blipFill>
          <a:blip r:embed="rId2"/>
          <a:stretch>
            <a:fillRect/>
          </a:stretch>
        </p:blipFill>
        <p:spPr>
          <a:xfrm>
            <a:off x="5097780" y="1851660"/>
            <a:ext cx="411480" cy="411480"/>
          </a:xfrm>
          <a:prstGeom prst="rect">
            <a:avLst/>
          </a:prstGeom>
        </p:spPr>
      </p:pic>
      <p:sp>
        <p:nvSpPr>
          <p:cNvPr id="12" name="Text 8"/>
          <p:cNvSpPr txBox="1"/>
          <p:nvPr/>
        </p:nvSpPr>
        <p:spPr>
          <a:xfrm>
            <a:off x="5943600" y="16002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2. 共感する</a:t>
            </a:r>
            <a:endParaRPr lang="en-US" sz="1600" dirty="0"/>
          </a:p>
        </p:txBody>
      </p:sp>
      <p:sp>
        <p:nvSpPr>
          <p:cNvPr id="13" name="Text 9"/>
          <p:cNvSpPr txBox="1"/>
          <p:nvPr/>
        </p:nvSpPr>
        <p:spPr>
          <a:xfrm>
            <a:off x="5943600" y="2011680"/>
            <a:ext cx="2560320" cy="640080"/>
          </a:xfrm>
          <a:prstGeom prst="rect">
            <a:avLst/>
          </a:prstGeom>
          <a:noFill/>
          <a:ln/>
        </p:spPr>
        <p:txBody>
          <a:bodyPr wrap="square" lIns="0" tIns="0" rIns="0" bIns="0" rtlCol="0" anchor="t"/>
          <a:lstStyle/>
          <a:p>
            <a:pPr indent="0" marL="0">
              <a:buNone/>
            </a:pPr>
            <a:r>
              <a:rPr lang="en-US" sz="1200" dirty="0">
                <a:solidFill>
                  <a:schemeClr val="tx1"/>
                </a:solidFill>
              </a:rPr>
              <a:t>「費用を抑えたいですよね」「ヒリヒリした経験は？」と気持ちに寄り添う</a:t>
            </a:r>
            <a:endParaRPr lang="en-US" sz="1200" dirty="0"/>
          </a:p>
        </p:txBody>
      </p:sp>
      <p:sp>
        <p:nvSpPr>
          <p:cNvPr id="14" name="Point card"/>
          <p:cNvSpPr/>
          <p:nvPr/>
        </p:nvSpPr>
        <p:spPr>
          <a:xfrm>
            <a:off x="457200" y="29718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5" name="押し付けない circle"/>
          <p:cNvSpPr/>
          <p:nvPr/>
        </p:nvSpPr>
        <p:spPr>
          <a:xfrm>
            <a:off x="685800" y="3246120"/>
            <a:ext cx="822960" cy="822960"/>
          </a:xfrm>
          <a:prstGeom prst="ellipse">
            <a:avLst/>
          </a:prstGeom>
          <a:solidFill>
            <a:schemeClr val="accent2"/>
          </a:solidFill>
          <a:ln/>
        </p:spPr>
      </p:sp>
      <p:pic>
        <p:nvPicPr>
          <p:cNvPr id="16" name="押し付けない icon" descr="押し付けない">    </p:cNvPr>
          <p:cNvPicPr>
            <a:picLocks noChangeAspect="1"/>
          </p:cNvPicPr>
          <p:nvPr/>
        </p:nvPicPr>
        <p:blipFill>
          <a:blip r:embed="rId3"/>
          <a:stretch>
            <a:fillRect/>
          </a:stretch>
        </p:blipFill>
        <p:spPr>
          <a:xfrm>
            <a:off x="891540" y="3451860"/>
            <a:ext cx="411480" cy="411480"/>
          </a:xfrm>
          <a:prstGeom prst="rect">
            <a:avLst/>
          </a:prstGeom>
        </p:spPr>
      </p:pic>
      <p:sp>
        <p:nvSpPr>
          <p:cNvPr id="17" name="Text 12"/>
          <p:cNvSpPr txBox="1"/>
          <p:nvPr/>
        </p:nvSpPr>
        <p:spPr>
          <a:xfrm>
            <a:off x="1737360" y="32004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3. 押し付けない</a:t>
            </a:r>
            <a:endParaRPr lang="en-US" sz="1600" dirty="0"/>
          </a:p>
        </p:txBody>
      </p:sp>
      <p:sp>
        <p:nvSpPr>
          <p:cNvPr id="18" name="Text 13"/>
          <p:cNvSpPr txBox="1"/>
          <p:nvPr/>
        </p:nvSpPr>
        <p:spPr>
          <a:xfrm>
            <a:off x="1737360" y="3611880"/>
            <a:ext cx="2560320" cy="640080"/>
          </a:xfrm>
          <a:prstGeom prst="rect">
            <a:avLst/>
          </a:prstGeom>
          <a:noFill/>
          <a:ln/>
        </p:spPr>
        <p:txBody>
          <a:bodyPr wrap="square" lIns="0" tIns="0" rIns="0" bIns="0" rtlCol="0" anchor="t"/>
          <a:lstStyle/>
          <a:p>
            <a:pPr indent="0" marL="0">
              <a:buNone/>
            </a:pPr>
            <a:r>
              <a:rPr lang="en-US" sz="1200" dirty="0">
                <a:solidFill>
                  <a:schemeClr val="tx1"/>
                </a:solidFill>
              </a:rPr>
              <a:t>どちらが良いかではなく、場面ごとの使い分けを提案</a:t>
            </a:r>
            <a:endParaRPr lang="en-US" sz="1200" dirty="0"/>
          </a:p>
        </p:txBody>
      </p:sp>
      <p:sp>
        <p:nvSpPr>
          <p:cNvPr id="19" name="Point card"/>
          <p:cNvSpPr/>
          <p:nvPr/>
        </p:nvSpPr>
        <p:spPr>
          <a:xfrm>
            <a:off x="4663440" y="29718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20" name="小さく始める circle"/>
          <p:cNvSpPr/>
          <p:nvPr/>
        </p:nvSpPr>
        <p:spPr>
          <a:xfrm>
            <a:off x="4892040" y="3246120"/>
            <a:ext cx="822960" cy="822960"/>
          </a:xfrm>
          <a:prstGeom prst="ellipse">
            <a:avLst/>
          </a:prstGeom>
          <a:solidFill>
            <a:schemeClr val="tx2"/>
          </a:solidFill>
          <a:ln/>
        </p:spPr>
      </p:sp>
      <p:pic>
        <p:nvPicPr>
          <p:cNvPr id="21" name="小さく始める icon" descr="小さく始める">    </p:cNvPr>
          <p:cNvPicPr>
            <a:picLocks noChangeAspect="1"/>
          </p:cNvPicPr>
          <p:nvPr/>
        </p:nvPicPr>
        <p:blipFill>
          <a:blip r:embed="rId4"/>
          <a:stretch>
            <a:fillRect/>
          </a:stretch>
        </p:blipFill>
        <p:spPr>
          <a:xfrm>
            <a:off x="5097780" y="3451860"/>
            <a:ext cx="411480" cy="411480"/>
          </a:xfrm>
          <a:prstGeom prst="rect">
            <a:avLst/>
          </a:prstGeom>
        </p:spPr>
      </p:pic>
      <p:sp>
        <p:nvSpPr>
          <p:cNvPr id="22" name="Text 16"/>
          <p:cNvSpPr txBox="1"/>
          <p:nvPr/>
        </p:nvSpPr>
        <p:spPr>
          <a:xfrm>
            <a:off x="5943600" y="32004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4. 小さく始める</a:t>
            </a:r>
            <a:endParaRPr lang="en-US" sz="1600" dirty="0"/>
          </a:p>
        </p:txBody>
      </p:sp>
      <p:sp>
        <p:nvSpPr>
          <p:cNvPr id="23" name="Text 17"/>
          <p:cNvSpPr txBox="1"/>
          <p:nvPr/>
        </p:nvSpPr>
        <p:spPr>
          <a:xfrm>
            <a:off x="5943600" y="3611880"/>
            <a:ext cx="2560320" cy="640080"/>
          </a:xfrm>
          <a:prstGeom prst="rect">
            <a:avLst/>
          </a:prstGeom>
          <a:noFill/>
          <a:ln/>
        </p:spPr>
        <p:txBody>
          <a:bodyPr wrap="square" lIns="0" tIns="0" rIns="0" bIns="0" rtlCol="0" anchor="t"/>
          <a:lstStyle/>
          <a:p>
            <a:pPr indent="0" marL="0">
              <a:buNone/>
            </a:pPr>
            <a:r>
              <a:rPr lang="en-US" sz="1200" dirty="0">
                <a:solidFill>
                  <a:schemeClr val="tx1"/>
                </a:solidFill>
              </a:rPr>
              <a:t>まずは1つずつのお試しで、購入のハードルを下げる</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Quote" descr="引用">    </p:cNvPr>
          <p:cNvPicPr>
            <a:picLocks noChangeAspect="1"/>
          </p:cNvPicPr>
          <p:nvPr/>
        </p:nvPicPr>
        <p:blipFill>
          <a:blip r:embed="rId1"/>
          <a:stretch>
            <a:fillRect/>
          </a:stretch>
        </p:blipFill>
        <p:spPr>
          <a:xfrm>
            <a:off x="640080" y="685800"/>
            <a:ext cx="548640" cy="548640"/>
          </a:xfrm>
          <a:prstGeom prst="rect">
            <a:avLst/>
          </a:prstGeom>
        </p:spPr>
      </p:pic>
      <p:sp>
        <p:nvSpPr>
          <p:cNvPr id="3"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お客様が大切にしていることを伺い、</a:t>
            </a:r>
            <a:endParaRPr lang="en-US" sz="3600" dirty="0"/>
          </a:p>
          <a:p>
            <a:pPr algn="l" indent="0" marL="0">
              <a:buNone/>
            </a:pPr>
            <a:r>
              <a:rPr lang="en-US" sz="3600" b="1" dirty="0">
                <a:solidFill>
                  <a:schemeClr val="bg1"/>
                </a:solidFill>
              </a:rPr>
              <a:t>その方に合った価値をご提案する</a:t>
            </a:r>
            <a:endParaRPr lang="en-US" sz="3600" dirty="0"/>
          </a:p>
        </p:txBody>
      </p:sp>
      <p:sp>
        <p:nvSpPr>
          <p:cNvPr id="4"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商品の良さを一方的にお伝えするのではなく、お客様の想いに寄り添う営業を心がけています。</a:t>
            </a:r>
            <a:endParaRPr lang="en-US" sz="1800" dirty="0"/>
          </a:p>
        </p:txBody>
      </p:sp>
    </p:spTree>
  </p:cSld>
  <p:clrMapOvr>
    <a:masterClrMapping/>
  </p:clrMapOvr>
</p:sld>
</file>

<file path=ppt/theme/theme1.xml><?xml version="1.0" encoding="utf-8"?>
<a:theme xmlns:a="http://schemas.openxmlformats.org/drawingml/2006/main" name="Soft Tissue">
  <a:themeElements>
    <a:clrScheme name="Soft Tissue">
      <a:dk1>
        <a:srgbClr val="263238"/>
      </a:dk1>
      <a:lt1>
        <a:srgbClr val="FFFFFF"/>
      </a:lt1>
      <a:dk2>
        <a:srgbClr val="1F4E5F"/>
      </a:dk2>
      <a:lt2>
        <a:srgbClr val="EEF4F5"/>
      </a:lt2>
      <a:accent1>
        <a:srgbClr val="1F4E5F"/>
      </a:accent1>
      <a:accent2>
        <a:srgbClr val="E07A5F"/>
      </a:accent2>
      <a:accent3>
        <a:srgbClr val="4E9A8A"/>
      </a:accent3>
      <a:accent4>
        <a:srgbClr val="F2C14E"/>
      </a:accent4>
      <a:accent5>
        <a:srgbClr val="8AA4AE"/>
      </a:accent5>
      <a:accent6>
        <a:srgbClr val="D5E3E6"/>
      </a:accent6>
      <a:hlink>
        <a:srgbClr val="1F4E5F"/>
      </a:hlink>
      <a:folHlink>
        <a:srgbClr val="4E9A8A"/>
      </a:folHlink>
    </a:clrScheme>
    <a:fontScheme name="Soft Tissu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用途に合わせて選ぶ2種類のティッシュのご提案</dc:title>
  <dc:subject>PptxGenJS Presentation</dc:subject>
  <dc:creator>PptxGenJS</dc:creator>
  <cp:lastModifiedBy>PptxGenJS</cp:lastModifiedBy>
  <cp:revision>1</cp:revision>
  <dcterms:created xsi:type="dcterms:W3CDTF">2026-10-29T10:39:05Z</dcterms:created>
  <dcterms:modified xsi:type="dcterms:W3CDTF">2026-10-29T10:39:05Z</dcterms:modified>
</cp:coreProperties>
</file>