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ご挨拶" id="{51a8644e-4c1e-2115-fb43-16505fe58949}">
          <p14:sldIdLst>
            <p14:sldId id="256"/>
          </p14:sldIdLst>
        </p14:section>
        <p14:section name="現状の確認" id="{73d5fc0b-a8fc-0073-fb52-bd01b0c4f229}">
          <p14:sldIdLst>
            <p14:sldId id="257"/>
          </p14:sldIdLst>
        </p14:section>
        <p14:section name="商品のご紹介" id="{d4ce7b63-bc76-78ae-c5ad-a331e4f442f0}">
          <p14:sldIdLst>
            <p14:sldId id="258"/>
            <p14:sldId id="259"/>
          </p14:sldIdLst>
        </p14:section>
        <p14:section name="ご提案" id="{03f744cd-445c-7a6f-ca54-f8a0d3c6cece}">
          <p14:sldIdLst>
            <p14:sldId id="260"/>
            <p14:sldId id="261"/>
          </p14:sldIdLst>
        </p14:section>
        <p14:section name="まとめ" id="{51b46ae2-49a8-47cb-3b05-86bc93301334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「本日はお時間をいただき、ありがとうございます。
本日は、社内でお使いいただくティッシュについて、用途やご予算に応じてお選びいただける2種類の商品をご提案させていただきたく、お伺いしました。
まずは、現在の使用状況についてお聞かせいただけますでしょうか。」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「現在は、どのようなティッシュを、どのような方法で購入されていますか？
また、毎月どのくらいの量をお使いでしょうか。」
（使用状況を伺う）
「企業様にとっては、1箱あたりの価格だけでなく、毎月の使用量を含めた備品購入のコストや、社員の方・ご来客の方の使い心地も大切なポイントになります。
現在、価格や品質の面で気になっていることはございますか？」
（課題を伺い、コスト削減と品質重視のどちらを優先されるかを把握する）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「まず1つ目は、価格を重視したティッシュです。
価格を抑え、コストパフォーマンスを重視した商品で、社員の方のデスクや給湯室・会議室などの共有スペースといった、日常的に使用する場所に適しています。
特に、毎月の使用量が多い企業様ほど、備品購入のコスト削減につながります。」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「2つ目は、鼻セレブのような、柔らかさや肌触りを重視した高品質なティッシュです。
価格は一般的なティッシュより高くなりますが、その分、使用感に優れています。
来客スペースや応接室など、快適性を大切にしたい場所でお使いいただくことで、ご来客の方への心配りにもつながります。
価格だけでなく、品質にも価値を感じていただける企業様におすすめです。」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「どちらか一方に統一するのではなく、オフィス内の用途に合わせて使い分けることをご提案します。
例えば、社員の方のデスクや共有スペースには価格重視のティッシュを、来客スペースや応接室には高品質なティッシュを置いていただく。
このように使い分けることで、全体のコストを抑えながら、社員の方やご来客の方の満足度も高めることができます。
先ほど伺った使用量やご予算を踏まえると、このような配分はいかがでしょうか？」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「いきなり全てを切り替えるのではなく、まずは2種類を少量ずつお試しいただくのはいかがでしょうか。
実際の使用量や、社員の方・ご来客の方の使い心地をご確認いただいたうえで、貴社に合った配分で本格的に導入いただければと考えております。
コスト削減を優先されるか、品質を重視されるかに合わせて、配分は柔軟に調整いたします。」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私は、商品の特徴を一方的にお伝えするのではなく、ご担当者様のお話を伺ったうえで、コスト削減と品質のどちらを優先されるのかを把握し、貴社にとってメリットのあるご提案をすることを心がけています。本日はありがとうございました。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オフィスのティッシュを、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用途に合わせて最適化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用途や予算に応じて選べる　2種類のティッシュのご提案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総務部・備品管理ご担当者様向け</a:t>
            </a:r>
            <a:endParaRPr lang="en-US" sz="1200" dirty="0"/>
          </a:p>
        </p:txBody>
      </p:sp>
      <p:sp>
        <p:nvSpPr>
          <p:cNvPr id="5" name="Feather circle"/>
          <p:cNvSpPr/>
          <p:nvPr/>
        </p:nvSpPr>
        <p:spPr>
          <a:xfrm>
            <a:off x="7589520" y="54864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Feather icon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777240"/>
            <a:ext cx="457200" cy="457200"/>
          </a:xfrm>
          <a:prstGeom prst="rect">
            <a:avLst/>
          </a:prstGeom>
        </p:spPr>
      </p:pic>
      <p:sp>
        <p:nvSpPr>
          <p:cNvPr id="7" name="Coins circle"/>
          <p:cNvSpPr/>
          <p:nvPr/>
        </p:nvSpPr>
        <p:spPr>
          <a:xfrm>
            <a:off x="6766560" y="8686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Coins icon" descr="Co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010" y="1040130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① 現状の確認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ティッシュ選びで見るべき3つの視点</a:t>
            </a:r>
            <a:endParaRPr lang="en-US" sz="2600" dirty="0"/>
          </a:p>
        </p:txBody>
      </p:sp>
      <p:sp>
        <p:nvSpPr>
          <p:cNvPr id="4" name="View card"/>
          <p:cNvSpPr/>
          <p:nvPr/>
        </p:nvSpPr>
        <p:spPr>
          <a:xfrm>
            <a:off x="457200" y="137160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価格 circle"/>
          <p:cNvSpPr/>
          <p:nvPr/>
        </p:nvSpPr>
        <p:spPr>
          <a:xfrm>
            <a:off x="685800" y="15087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価格 icon" descr="価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66878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508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価格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874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1箱あたりの単価と、備品購入のコスト</a:t>
            </a:r>
            <a:endParaRPr lang="en-US" sz="1300" dirty="0"/>
          </a:p>
        </p:txBody>
      </p:sp>
      <p:sp>
        <p:nvSpPr>
          <p:cNvPr id="9" name="View card"/>
          <p:cNvSpPr/>
          <p:nvPr/>
        </p:nvSpPr>
        <p:spPr>
          <a:xfrm>
            <a:off x="457200" y="242316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使用量 circle"/>
          <p:cNvSpPr/>
          <p:nvPr/>
        </p:nvSpPr>
        <p:spPr>
          <a:xfrm>
            <a:off x="685800" y="25603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使用量 icon" descr="使用量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27203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54480" y="2560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使用量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54480" y="2926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毎月の消費量。社員数が多いほど影響大</a:t>
            </a:r>
            <a:endParaRPr lang="en-US" sz="1300" dirty="0"/>
          </a:p>
        </p:txBody>
      </p:sp>
      <p:sp>
        <p:nvSpPr>
          <p:cNvPr id="14" name="View card"/>
          <p:cNvSpPr/>
          <p:nvPr/>
        </p:nvSpPr>
        <p:spPr>
          <a:xfrm>
            <a:off x="457200" y="347472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品質 circle"/>
          <p:cNvSpPr/>
          <p:nvPr/>
        </p:nvSpPr>
        <p:spPr>
          <a:xfrm>
            <a:off x="685800" y="36118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品質 icon" descr="品質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377190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3611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品質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3977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社員や来客にとっての使い心地</a:t>
            </a:r>
            <a:endParaRPr lang="en-US" sz="1300" dirty="0"/>
          </a:p>
        </p:txBody>
      </p:sp>
      <p:sp>
        <p:nvSpPr>
          <p:cNvPr id="19" name="Hearing card"/>
          <p:cNvSpPr/>
          <p:nvPr/>
        </p:nvSpPr>
        <p:spPr>
          <a:xfrm>
            <a:off x="6217920" y="1371600"/>
            <a:ext cx="2468880" cy="30175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Hearing icon" descr="ヒアリン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55448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58000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お伺いしたいこと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0" y="21488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現在お使いの商品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購入方法・購入頻度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毎月の使用量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価格・品質の課題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コスト削減か、品質重視か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② 価格重視タイプ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コストを抑えて、毎日たっぷり使える</a:t>
            </a:r>
            <a:endParaRPr lang="en-US" sz="2600" dirty="0"/>
          </a:p>
        </p:txBody>
      </p:sp>
      <p:sp>
        <p:nvSpPr>
          <p:cNvPr id="4" name="Product card"/>
          <p:cNvSpPr/>
          <p:nvPr/>
        </p:nvSpPr>
        <p:spPr>
          <a:xfrm>
            <a:off x="457200" y="1371600"/>
            <a:ext cx="2926080" cy="310896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roduct circle"/>
          <p:cNvSpPr/>
          <p:nvPr/>
        </p:nvSpPr>
        <p:spPr>
          <a:xfrm>
            <a:off x="1325880" y="1691640"/>
            <a:ext cx="1188720" cy="118872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Product icon" descr="価格重視タイ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965960"/>
            <a:ext cx="640080" cy="640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価格重視タイプ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5661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コストパフォーマンス重視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日常使いの定番に</a:t>
            </a:r>
            <a:endParaRPr lang="en-US" sz="1200" dirty="0"/>
          </a:p>
        </p:txBody>
      </p:sp>
      <p:sp>
        <p:nvSpPr>
          <p:cNvPr id="9" name="デスク・執務スペースに circle"/>
          <p:cNvSpPr/>
          <p:nvPr/>
        </p:nvSpPr>
        <p:spPr>
          <a:xfrm>
            <a:off x="3749040" y="146304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0" name="デスク・執務スペースに icon" descr="デスク・執務スペース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16230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1444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デスク・執務スペースに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社員の皆様が毎日使う場所に、気兼ねなく置ける</a:t>
            </a:r>
            <a:endParaRPr lang="en-US" sz="1200" dirty="0"/>
          </a:p>
        </p:txBody>
      </p:sp>
      <p:sp>
        <p:nvSpPr>
          <p:cNvPr id="13" name="共有スペースに circle"/>
          <p:cNvSpPr/>
          <p:nvPr/>
        </p:nvSpPr>
        <p:spPr>
          <a:xfrm>
            <a:off x="3749040" y="251460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4" name="共有スペースに icon" descr="共有スペース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060" y="267462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72000" y="24963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共有スペースに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28620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給湯室や会議室など、使用頻度の高い場所に</a:t>
            </a:r>
            <a:endParaRPr lang="en-US" sz="1200" dirty="0"/>
          </a:p>
        </p:txBody>
      </p:sp>
      <p:sp>
        <p:nvSpPr>
          <p:cNvPr id="17" name="使用量の多い企業様に circle"/>
          <p:cNvSpPr/>
          <p:nvPr/>
        </p:nvSpPr>
        <p:spPr>
          <a:xfrm>
            <a:off x="3749040" y="356616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8" name="使用量の多い企業様に icon" descr="使用量の多い企業様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9060" y="3726180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572000" y="3547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使用量の多い企業様に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0" y="39136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消費量が多いほど、コスト削減の効果が大きくなる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③ 高品質タイプ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来客や快適性を大切にしたい場所に</a:t>
            </a:r>
            <a:endParaRPr lang="en-US" sz="2600" dirty="0"/>
          </a:p>
        </p:txBody>
      </p:sp>
      <p:sp>
        <p:nvSpPr>
          <p:cNvPr id="4" name="Product card"/>
          <p:cNvSpPr/>
          <p:nvPr/>
        </p:nvSpPr>
        <p:spPr>
          <a:xfrm>
            <a:off x="457200" y="1371600"/>
            <a:ext cx="2926080" cy="3108960"/>
          </a:xfrm>
          <a:prstGeom prst="roundRect">
            <a:avLst>
              <a:gd name="adj" fmla="val 3750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roduct circle"/>
          <p:cNvSpPr/>
          <p:nvPr/>
        </p:nvSpPr>
        <p:spPr>
          <a:xfrm>
            <a:off x="1325880" y="1691640"/>
            <a:ext cx="1188720" cy="118872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Product icon" descr="高品質タイ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965960"/>
            <a:ext cx="640080" cy="640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高品質タイプ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5661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鼻セレブのような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使用感重視のティッシュ</a:t>
            </a:r>
            <a:endParaRPr lang="en-US" sz="1200" dirty="0"/>
          </a:p>
        </p:txBody>
      </p:sp>
      <p:sp>
        <p:nvSpPr>
          <p:cNvPr id="9" name="やわらかさ・肌触り circle"/>
          <p:cNvSpPr/>
          <p:nvPr/>
        </p:nvSpPr>
        <p:spPr>
          <a:xfrm>
            <a:off x="3749040" y="146304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0" name="やわらかさ・肌触り icon" descr="やわらかさ・肌触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16230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1444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やわらかさ・肌触り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一般的なティッシュよりも、しっとりやわらかい使用感</a:t>
            </a:r>
            <a:endParaRPr lang="en-US" sz="1200" dirty="0"/>
          </a:p>
        </p:txBody>
      </p:sp>
      <p:sp>
        <p:nvSpPr>
          <p:cNvPr id="13" name="来客スペース・応接室に circle"/>
          <p:cNvSpPr/>
          <p:nvPr/>
        </p:nvSpPr>
        <p:spPr>
          <a:xfrm>
            <a:off x="3749040" y="251460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4" name="来客スペース・応接室に icon" descr="来客スペース・応接室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060" y="267462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72000" y="24963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来客スペース・応接室に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28620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お客様をお迎えする場所で、細やかな心配りを</a:t>
            </a:r>
            <a:endParaRPr lang="en-US" sz="1200" dirty="0"/>
          </a:p>
        </p:txBody>
      </p:sp>
      <p:sp>
        <p:nvSpPr>
          <p:cNvPr id="17" name="品質を重視する企業様に circle"/>
          <p:cNvSpPr/>
          <p:nvPr/>
        </p:nvSpPr>
        <p:spPr>
          <a:xfrm>
            <a:off x="3749040" y="356616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8" name="品質を重視する企業様に icon" descr="品質を重視する企業様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9060" y="3726180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572000" y="3547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品質を重視する企業様に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0" y="39136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価格だけでなく、使い心地にも価値を感じる企業様に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④ 2種類の使い分け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オフィス内の用途に合わせて使い分ける</a:t>
            </a:r>
            <a:endParaRPr lang="en-US" sz="2600" dirty="0"/>
          </a:p>
        </p:txBody>
      </p:sp>
      <p:sp>
        <p:nvSpPr>
          <p:cNvPr id="4" name="Scene card"/>
          <p:cNvSpPr/>
          <p:nvPr/>
        </p:nvSpPr>
        <p:spPr>
          <a:xfrm>
            <a:off x="457200" y="1371600"/>
            <a:ext cx="402336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デスク・共有スペース circle"/>
          <p:cNvSpPr/>
          <p:nvPr/>
        </p:nvSpPr>
        <p:spPr>
          <a:xfrm>
            <a:off x="731520" y="160020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デスク・共有スペース icon" descr="デスク・共有スペー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79451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645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デスク・共有スペース</a:t>
            </a:r>
            <a:endParaRPr lang="en-US" sz="1700" dirty="0"/>
          </a:p>
        </p:txBody>
      </p:sp>
      <p:sp>
        <p:nvSpPr>
          <p:cNvPr id="8" name="Product tag"/>
          <p:cNvSpPr/>
          <p:nvPr/>
        </p:nvSpPr>
        <p:spPr>
          <a:xfrm>
            <a:off x="1691640" y="2103120"/>
            <a:ext cx="192024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6916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価格重視タイプ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使用量の多い場所は、コストを抑えて</a:t>
            </a:r>
            <a:endParaRPr lang="en-US" sz="1300" dirty="0"/>
          </a:p>
        </p:txBody>
      </p:sp>
      <p:sp>
        <p:nvSpPr>
          <p:cNvPr id="11" name="Scene card"/>
          <p:cNvSpPr/>
          <p:nvPr/>
        </p:nvSpPr>
        <p:spPr>
          <a:xfrm>
            <a:off x="4663440" y="1371600"/>
            <a:ext cx="402336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来客スペース・応接室 circle"/>
          <p:cNvSpPr/>
          <p:nvPr/>
        </p:nvSpPr>
        <p:spPr>
          <a:xfrm>
            <a:off x="4937760" y="160020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来客スペース・応接室 icon" descr="来客スペース・応接室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070" y="1794510"/>
            <a:ext cx="388620" cy="3886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897880" y="1645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来客スペース・応接室</a:t>
            </a:r>
            <a:endParaRPr lang="en-US" sz="1700" dirty="0"/>
          </a:p>
        </p:txBody>
      </p:sp>
      <p:sp>
        <p:nvSpPr>
          <p:cNvPr id="15" name="Product tag"/>
          <p:cNvSpPr/>
          <p:nvPr/>
        </p:nvSpPr>
        <p:spPr>
          <a:xfrm>
            <a:off x="5897880" y="2103120"/>
            <a:ext cx="192024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897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高品質タイプ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93776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お客様をお迎えする場所は、品質を重視して</a:t>
            </a:r>
            <a:endParaRPr lang="en-US" sz="1300" dirty="0"/>
          </a:p>
        </p:txBody>
      </p:sp>
      <p:sp>
        <p:nvSpPr>
          <p:cNvPr id="18" name="Benefit band"/>
          <p:cNvSpPr/>
          <p:nvPr/>
        </p:nvSpPr>
        <p:spPr>
          <a:xfrm>
            <a:off x="457200" y="361188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685800" y="3611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全体のコストを抑えながら、社員と来客の満足度も高める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⑤ 導入のご提案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まずは、お試し購入から</a:t>
            </a:r>
            <a:endParaRPr lang="en-US" sz="2600" dirty="0"/>
          </a:p>
        </p:txBody>
      </p:sp>
      <p:sp>
        <p:nvSpPr>
          <p:cNvPr id="4" name="Step card"/>
          <p:cNvSpPr/>
          <p:nvPr/>
        </p:nvSpPr>
        <p:spPr>
          <a:xfrm>
            <a:off x="457200" y="1371600"/>
            <a:ext cx="246888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お試し購入 circle"/>
          <p:cNvSpPr/>
          <p:nvPr/>
        </p:nvSpPr>
        <p:spPr>
          <a:xfrm>
            <a:off x="1325880" y="16002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お試し購入 icon" descr="お試し購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7830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468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STEP 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お試し購入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1089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2種類を少量ずつ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ご購入いただく</a:t>
            </a:r>
            <a:endParaRPr lang="en-US" sz="1200" dirty="0"/>
          </a:p>
        </p:txBody>
      </p:sp>
      <p:pic>
        <p:nvPicPr>
          <p:cNvPr id="10" name="Step arrow" descr="次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377440"/>
            <a:ext cx="274320" cy="274320"/>
          </a:xfrm>
          <a:prstGeom prst="rect">
            <a:avLst/>
          </a:prstGeom>
        </p:spPr>
      </p:pic>
      <p:sp>
        <p:nvSpPr>
          <p:cNvPr id="11" name="Step card"/>
          <p:cNvSpPr/>
          <p:nvPr/>
        </p:nvSpPr>
        <p:spPr>
          <a:xfrm>
            <a:off x="3337560" y="1371600"/>
            <a:ext cx="246888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使用状況の確認 circle"/>
          <p:cNvSpPr/>
          <p:nvPr/>
        </p:nvSpPr>
        <p:spPr>
          <a:xfrm>
            <a:off x="4206240" y="16002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使用状況の確認 icon" descr="使用状況の確認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78308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20440" y="2468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STEP 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3520440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使用状況の確認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520440" y="31089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使用量や社員・来客の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使い心地を確認</a:t>
            </a:r>
            <a:endParaRPr lang="en-US" sz="1200" dirty="0"/>
          </a:p>
        </p:txBody>
      </p:sp>
      <p:pic>
        <p:nvPicPr>
          <p:cNvPr id="17" name="Step arrow" descr="次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2377440"/>
            <a:ext cx="274320" cy="274320"/>
          </a:xfrm>
          <a:prstGeom prst="rect">
            <a:avLst/>
          </a:prstGeom>
        </p:spPr>
      </p:pic>
      <p:sp>
        <p:nvSpPr>
          <p:cNvPr id="18" name="Step card"/>
          <p:cNvSpPr/>
          <p:nvPr/>
        </p:nvSpPr>
        <p:spPr>
          <a:xfrm>
            <a:off x="6217920" y="1371600"/>
            <a:ext cx="246888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本格導入 circle"/>
          <p:cNvSpPr/>
          <p:nvPr/>
        </p:nvSpPr>
        <p:spPr>
          <a:xfrm>
            <a:off x="7086600" y="16002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本格導入 icon" descr="本格導入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1783080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400800" y="2468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STEP 3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6400800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本格導入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400800" y="31089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配分を最適化して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定期的にお届け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コスト削減と品質のバランスは、貴社のご予算・使用量に合わせて調整します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Quote" descr="引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8580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630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コストと品質、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貴社にとって最適なバランスを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27889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現在の使用状況や課題を伺い、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ご予算・使用量・用途に合ったご提案をいたします。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ft Tissue">
  <a:themeElements>
    <a:clrScheme name="Soft Tissue">
      <a:dk1>
        <a:srgbClr val="263238"/>
      </a:dk1>
      <a:lt1>
        <a:srgbClr val="FFFFFF"/>
      </a:lt1>
      <a:dk2>
        <a:srgbClr val="1F4E5F"/>
      </a:dk2>
      <a:lt2>
        <a:srgbClr val="EEF4F5"/>
      </a:lt2>
      <a:accent1>
        <a:srgbClr val="1F4E5F"/>
      </a:accent1>
      <a:accent2>
        <a:srgbClr val="E07A5F"/>
      </a:accent2>
      <a:accent3>
        <a:srgbClr val="4E9A8A"/>
      </a:accent3>
      <a:accent4>
        <a:srgbClr val="F2C14E"/>
      </a:accent4>
      <a:accent5>
        <a:srgbClr val="8AA4AE"/>
      </a:accent5>
      <a:accent6>
        <a:srgbClr val="D5E3E6"/>
      </a:accent6>
      <a:hlink>
        <a:srgbClr val="1F4E5F"/>
      </a:hlink>
      <a:folHlink>
        <a:srgbClr val="4E9A8A"/>
      </a:folHlink>
    </a:clrScheme>
    <a:fontScheme name="Soft Tissu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用途に合わせて選ぶ2種類のティッシュのご提案</dc:title>
  <dc:subject>PptxGenJS Presentation</dc:subject>
  <dc:creator>PptxGenJS</dc:creator>
  <cp:lastModifiedBy>PptxGenJS</cp:lastModifiedBy>
  <cp:revision>1</cp:revision>
  <dcterms:created xsi:type="dcterms:W3CDTF">2026-10-29T11:11:30Z</dcterms:created>
  <dcterms:modified xsi:type="dcterms:W3CDTF">2026-10-29T11:11:30Z</dcterms:modified>
</cp:coreProperties>
</file>